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packets (thousands)</c:v>
                </c:pt>
              </c:strCache>
            </c:strRef>
          </c:tx>
          <c:spPr>
            <a:solidFill>
              <a:srgbClr val="2A78D6"/>
            </a:solidFill>
          </c:spPr>
          <c:cat>
            <c:strRef>
              <c:f>Sheet1!$A$2:$A$9</c:f>
              <c:strCache>
                <c:ptCount val="8"/>
                <c:pt idx="0">
                  <c:v>priority 7</c:v>
                </c:pt>
                <c:pt idx="1">
                  <c:v>priority 6</c:v>
                </c:pt>
                <c:pt idx="2">
                  <c:v>priority 5</c:v>
                </c:pt>
                <c:pt idx="3">
                  <c:v>priority 4</c:v>
                </c:pt>
                <c:pt idx="4">
                  <c:v>priority 3</c:v>
                </c:pt>
                <c:pt idx="5">
                  <c:v>priority 2</c:v>
                </c:pt>
                <c:pt idx="6">
                  <c:v>priority 1</c:v>
                </c:pt>
                <c:pt idx="7">
                  <c:v>priority 0</c:v>
                </c:pt>
              </c:strCache>
            </c:strRef>
          </c:cat>
          <c:val>
            <c:numRef>
              <c:f>Sheet1!$B$2:$B$9</c:f>
              <c:numCache>
                <c:formatCode>General</c:formatCode>
                <c:ptCount val="8"/>
                <c:pt idx="0">
                  <c:v>54.9</c:v>
                </c:pt>
                <c:pt idx="1">
                  <c:v>167.9</c:v>
                </c:pt>
                <c:pt idx="2">
                  <c:v>1.8</c:v>
                </c:pt>
                <c:pt idx="3">
                  <c:v>0.5</c:v>
                </c:pt>
                <c:pt idx="4">
                  <c:v>0.1</c:v>
                </c:pt>
                <c:pt idx="5">
                  <c:v>0.0</c:v>
                </c:pt>
                <c:pt idx="6">
                  <c:v>0.1</c:v>
                </c:pt>
                <c:pt idx="7">
                  <c:v>0.5</c:v>
                </c:pt>
              </c:numCache>
            </c:numRef>
          </c:val>
        </c:ser>
        <c:dLbls>
          <c:numFmt formatCode="0.0" sourceLinked="0"/>
          <c:txPr>
            <a:bodyPr/>
            <a:lstStyle/>
            <a:p>
              <a:pPr>
                <a:defRPr sz="1300">
                  <a:solidFill>
                    <a:srgbClr val="1F2937"/>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nextTo"/>
        <c:spPr>
          <a:ln>
            <a:solidFill>
              <a:srgbClr val="DCE2EA"/>
            </a:solidFill>
          </a:ln>
        </c:spPr>
        <c:txPr>
          <a:bodyPr/>
          <a:lstStyle/>
          <a:p>
            <a:pPr>
              <a:defRPr sz="1300"/>
            </a:pPr>
          </a:p>
        </c:txPr>
        <c:crossAx val="-2113994440"/>
        <c:crosses val="autoZero"/>
        <c:auto val="1"/>
        <c:lblAlgn val="ctr"/>
        <c:lblOffset val="100"/>
        <c:noMultiLvlLbl val="0"/>
      </c:catAx>
      <c:valAx>
        <c:axId val="-2113994440"/>
        <c:scaling/>
        <c:delete val="0"/>
        <c:axPos val="b"/>
        <c:majorGridlines>
          <c:spPr>
            <a:ln>
              <a:solidFill>
                <a:srgbClr val="DCE2EA"/>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5B667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median</c:v>
                </c:pt>
              </c:strCache>
            </c:strRef>
          </c:tx>
          <c:spPr>
            <a:solidFill>
              <a:srgbClr val="2A78D6"/>
            </a:solidFill>
          </c:spPr>
          <c:cat>
            <c:strRef>
              <c:f>Sheet1!$A$2:$A$5</c:f>
              <c:strCache>
                <c:ptCount val="4"/>
                <c:pt idx="0">
                  <c:v>Homa · priority queues</c:v>
                </c:pt>
                <c:pt idx="1">
                  <c:v>Homa · one FIFO</c:v>
                </c:pt>
                <c:pt idx="2">
                  <c:v>TCP · priority queues</c:v>
                </c:pt>
                <c:pt idx="3">
                  <c:v>TCP · one FIFO</c:v>
                </c:pt>
              </c:strCache>
            </c:strRef>
          </c:cat>
          <c:val>
            <c:numRef>
              <c:f>Sheet1!$B$2:$B$5</c:f>
              <c:numCache>
                <c:formatCode>General</c:formatCode>
                <c:ptCount val="4"/>
                <c:pt idx="0">
                  <c:v>0.31</c:v>
                </c:pt>
                <c:pt idx="1">
                  <c:v>2.99</c:v>
                </c:pt>
                <c:pt idx="2">
                  <c:v>13.0</c:v>
                </c:pt>
                <c:pt idx="3">
                  <c:v>30.3</c:v>
                </c:pt>
              </c:numCache>
            </c:numRef>
          </c:val>
        </c:ser>
        <c:ser>
          <c:idx val="1"/>
          <c:order val="1"/>
          <c:tx>
            <c:strRef>
              <c:f>Sheet1!$C$1</c:f>
              <c:strCache>
                <c:ptCount val="1"/>
                <c:pt idx="0">
                  <c:v>99th percentile</c:v>
                </c:pt>
              </c:strCache>
            </c:strRef>
          </c:tx>
          <c:spPr>
            <a:solidFill>
              <a:srgbClr val="9DC1EE"/>
            </a:solidFill>
          </c:spPr>
          <c:cat>
            <c:strRef>
              <c:f>Sheet1!$A$2:$A$5</c:f>
              <c:strCache>
                <c:ptCount val="4"/>
                <c:pt idx="0">
                  <c:v>Homa · priority queues</c:v>
                </c:pt>
                <c:pt idx="1">
                  <c:v>Homa · one FIFO</c:v>
                </c:pt>
                <c:pt idx="2">
                  <c:v>TCP · priority queues</c:v>
                </c:pt>
                <c:pt idx="3">
                  <c:v>TCP · one FIFO</c:v>
                </c:pt>
              </c:strCache>
            </c:strRef>
          </c:cat>
          <c:val>
            <c:numRef>
              <c:f>Sheet1!$C$2:$C$5</c:f>
              <c:numCache>
                <c:formatCode>General</c:formatCode>
                <c:ptCount val="4"/>
                <c:pt idx="0">
                  <c:v>1.53</c:v>
                </c:pt>
                <c:pt idx="1">
                  <c:v>6.07</c:v>
                </c:pt>
                <c:pt idx="2">
                  <c:v>21.8</c:v>
                </c:pt>
                <c:pt idx="3">
                  <c:v>38.4</c:v>
                </c:pt>
              </c:numCache>
            </c:numRef>
          </c:val>
        </c:ser>
        <c:dLbls>
          <c:numFmt formatCode="0.0#" sourceLinked="0"/>
          <c:txPr>
            <a:bodyPr/>
            <a:lstStyle/>
            <a:p>
              <a:pPr>
                <a:defRPr sz="1300">
                  <a:solidFill>
                    <a:srgbClr val="1F2937"/>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nextTo"/>
        <c:spPr>
          <a:ln>
            <a:solidFill>
              <a:srgbClr val="DCE2EA"/>
            </a:solidFill>
          </a:ln>
        </c:spPr>
        <c:txPr>
          <a:bodyPr/>
          <a:lstStyle/>
          <a:p>
            <a:pPr>
              <a:defRPr sz="1300"/>
            </a:pPr>
          </a:p>
        </c:txPr>
        <c:crossAx val="-2113994440"/>
        <c:crosses val="autoZero"/>
        <c:auto val="1"/>
        <c:lblAlgn val="ctr"/>
        <c:lblOffset val="100"/>
        <c:noMultiLvlLbl val="0"/>
      </c:catAx>
      <c:valAx>
        <c:axId val="-2113994440"/>
        <c:scaling>
          <c:logBase val="10"/>
        </c:scaling>
        <c:delete val="0"/>
        <c:axPos val="b"/>
        <c:majorGridlines>
          <c:spPr>
            <a:ln>
              <a:solidFill>
                <a:srgbClr val="DCE2EA"/>
              </a:solidFill>
            </a:ln>
          </c:spPr>
        </c:majorGridlines>
        <c:majorTickMark val="out"/>
        <c:minorTickMark val="none"/>
        <c:tickLblPos val="nextTo"/>
        <c:spPr>
          <a:ln>
            <a:noFill/>
          </a:ln>
        </c:spPr>
        <c:txPr>
          <a:bodyPr/>
          <a:lstStyle/>
          <a:p>
            <a:pPr>
              <a:defRPr sz="1200"/>
            </a:pPr>
          </a:p>
        </c:txPr>
        <c:crossAx val="-2068027336"/>
        <c:crosses val="autoZero"/>
      </c:valAx>
    </c:plotArea>
    <c:legend>
      <c:legendPos val="t"/>
      <c:overlay val="0"/>
    </c:legend>
    <c:dispBlanksAs val="gap"/>
  </c:chart>
  <c:txPr>
    <a:bodyPr/>
    <a:lstStyle/>
    <a:p>
      <a:pPr>
        <a:defRPr sz="1300">
          <a:solidFill>
            <a:srgbClr val="5B667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Homa</c:v>
                </c:pt>
              </c:strCache>
            </c:strRef>
          </c:tx>
          <c:spPr>
            <a:solidFill>
              <a:srgbClr val="2A78D6"/>
            </a:solidFill>
          </c:spPr>
          <c:cat>
            <c:strRef>
              <c:f>Sheet1!$A$2:$A$4</c:f>
              <c:strCache>
                <c:ptCount val="3"/>
                <c:pt idx="0">
                  <c:v>short ≤ 1 KB</c:v>
                </c:pt>
                <c:pt idx="1">
                  <c:v>medium 1–100 KB</c:v>
                </c:pt>
                <c:pt idx="2">
                  <c:v>long &gt; 100 KB</c:v>
                </c:pt>
              </c:strCache>
            </c:strRef>
          </c:cat>
          <c:val>
            <c:numRef>
              <c:f>Sheet1!$B$2:$B$4</c:f>
              <c:numCache>
                <c:formatCode>General</c:formatCode>
                <c:ptCount val="3"/>
                <c:pt idx="0">
                  <c:v>2.32</c:v>
                </c:pt>
                <c:pt idx="1">
                  <c:v>2.61</c:v>
                </c:pt>
                <c:pt idx="2">
                  <c:v>20.9</c:v>
                </c:pt>
              </c:numCache>
            </c:numRef>
          </c:val>
        </c:ser>
        <c:ser>
          <c:idx val="1"/>
          <c:order val="1"/>
          <c:tx>
            <c:strRef>
              <c:f>Sheet1!$C$1</c:f>
              <c:strCache>
                <c:ptCount val="1"/>
                <c:pt idx="0">
                  <c:v>TCP</c:v>
                </c:pt>
              </c:strCache>
            </c:strRef>
          </c:tx>
          <c:spPr>
            <a:solidFill>
              <a:srgbClr val="EB6834"/>
            </a:solidFill>
          </c:spPr>
          <c:cat>
            <c:strRef>
              <c:f>Sheet1!$A$2:$A$4</c:f>
              <c:strCache>
                <c:ptCount val="3"/>
                <c:pt idx="0">
                  <c:v>short ≤ 1 KB</c:v>
                </c:pt>
                <c:pt idx="1">
                  <c:v>medium 1–100 KB</c:v>
                </c:pt>
                <c:pt idx="2">
                  <c:v>long &gt; 100 KB</c:v>
                </c:pt>
              </c:strCache>
            </c:strRef>
          </c:cat>
          <c:val>
            <c:numRef>
              <c:f>Sheet1!$C$2:$C$4</c:f>
              <c:numCache>
                <c:formatCode>General</c:formatCode>
                <c:ptCount val="3"/>
                <c:pt idx="0">
                  <c:v>4.0</c:v>
                </c:pt>
                <c:pt idx="1">
                  <c:v>4.09</c:v>
                </c:pt>
                <c:pt idx="2">
                  <c:v>15.9</c:v>
                </c:pt>
              </c:numCache>
            </c:numRef>
          </c:val>
        </c:ser>
        <c:dLbls>
          <c:numFmt formatCode="0.0#" sourceLinked="0"/>
          <c:txPr>
            <a:bodyPr/>
            <a:lstStyle/>
            <a:p>
              <a:pPr>
                <a:defRPr sz="1300">
                  <a:solidFill>
                    <a:srgbClr val="1F2937"/>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CE2EA"/>
            </a:solidFill>
          </a:ln>
        </c:spPr>
        <c:txPr>
          <a:bodyPr/>
          <a:lstStyle/>
          <a:p>
            <a:pPr>
              <a:defRPr sz="1300"/>
            </a:pPr>
          </a:p>
        </c:txPr>
        <c:crossAx val="-2113994440"/>
        <c:crosses val="autoZero"/>
        <c:auto val="1"/>
        <c:lblAlgn val="ctr"/>
        <c:lblOffset val="100"/>
        <c:noMultiLvlLbl val="0"/>
      </c:catAx>
      <c:valAx>
        <c:axId val="-2113994440"/>
        <c:scaling/>
        <c:delete val="0"/>
        <c:axPos val="l"/>
        <c:majorGridlines>
          <c:spPr>
            <a:ln>
              <a:solidFill>
                <a:srgbClr val="DCE2EA"/>
              </a:solidFill>
            </a:ln>
          </c:spPr>
        </c:majorGridlines>
        <c:majorTickMark val="out"/>
        <c:minorTickMark val="none"/>
        <c:tickLblPos val="nextTo"/>
        <c:spPr>
          <a:ln>
            <a:noFill/>
          </a:ln>
        </c:spPr>
        <c:txPr>
          <a:bodyPr/>
          <a:lstStyle/>
          <a:p>
            <a:pPr>
              <a:defRPr sz="1200"/>
            </a:pPr>
          </a:p>
        </c:txPr>
        <c:crossAx val="-2068027336"/>
        <c:crosses val="autoZero"/>
      </c:valAx>
    </c:plotArea>
    <c:legend>
      <c:legendPos val="t"/>
      <c:overlay val="0"/>
    </c:legend>
    <c:dispBlanksAs val="gap"/>
  </c:chart>
  <c:txPr>
    <a:bodyPr/>
    <a:lstStyle/>
    <a:p>
      <a:pPr>
        <a:defRPr sz="1300">
          <a:solidFill>
            <a:srgbClr val="5B667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homa-lab tests the Linux kernel module that implements Homa, a datacenter transport protocol from Stanford designed as an alternative to TCP for remote procedure calls. The lab runs the module on four hosts joined by a switch with real priority queues, and measures what Homa does under load, under incast and under loss.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things the lab is built around. It tests behaviour and correctness, not raw performance: these are VMs on one 12-core host, so absolute numbers are not datacenter numbers, but comparisons on the same machines are fair.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is for people who don't live in transport protocols. If the audience knows TCP well, it can be skipped to part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a request to a datacenter service fans out to many servers and finishes only when the slowest answer arrives. If 1 message in 100 is slow and a page needs 100 of them, 1 - 0.99^100 = 63% of pages are slow. So what matters is the tail, the 99th percentile, not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analogy. TCP: every sender accelerates until something is lost, then brakes; small messages queue behind big ones. Homa: the receiver acts as a dispatcher that sees everything heading its way, and the network has express lanes for small messages.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ideas, in order. Note idea 3 in this module version: messages up to about 40 KB go immediately; since September 2026 a longer message is announced with START_MSG and every byte waits for a grant.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Benefits. The 10-100x figure is the Homa authors' measurement on real datacenter hardware; the lab reproduces the direction of the effect at small scale: under incast, Homa's short messages stayed under 2 ms at p99 while TCP's took 20-40 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Drawbacks, several measured in this lab: without priority queues the short-message advantage shrinks about 10x at the median; TCP wins big transfers because NIC offloads only understand TCP; the default timers misfire at 1 Gbit/s. grant_fifo_fraction reserves bandwidth for the oldest message and is 0 (off) in this build.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to use which. Homa makes sense for RPC-heavy services inside one datacenter whose owner controls hosts and switches, where tail latency is the problem. Across the internet, for bulk transfer, or with apps that can't change, TCP or QUIC remains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lab is put together, and why each piece is the way it 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host-to-sw1 link is its own isolated libvirt bridge. sw1 bridges them and applies its egress policy on the way to each host, i.e. at the receiver's downlink, where incast congestion happens. The hosts set link_mbps=1000 so Homa sizes its pacing and grants for the real bottleneck (the default assumes 25 Gbit/s).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tools/build_image.sh boots a throwaway builder VM on libvirt's NAT network, runs image/homa-build.sh once, and powers off. The unit tests needed two definitions to compile against Ubuntu's mainline headers (no __seg_gs address space, CONFIG_TRACE_PREEMPT_TOGGLE); with them all 840 pass.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300 KB RPC captured on sw1's port to h1. The sender announces the message with START_MSG; the receiver grants 200,000 bytes one round trip later; data follows in full 9 KB frames and further grants extend the window. All grants say priority 0: with one message incoming, Homa uses the lowest scheduled priority. Capture on sw1, not the host: Homa's GRO handler consumes many arriving packets before tcpdump sees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Packets leaving sw1 towards h1 during the Homa incast run, by the priority Homa wrote into the IP header. Priority 7 carries short messages and every control packet (grants, acks); 6 and below carry scheduled data at the priorities the grants assigned. sw1 serves them strictly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numbers come from one collection run against the live lab, the same data as the PDF.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h2 and h3 stream 500 KB messages into h1, twice what its 1 Gbit/s port can take, while h4 sends 100-byte probes to h1. With priority queues Homa's probes overtake the queued bulk data: median 0.31 ms against 2.99 ms with one FIFO. TCP marks everything priority 0, so the queues can't help it: 13.0-30.3 ms. Idle probe RTT is about 0.15 ms. Log scale.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mixed load: Homa's W3 message-size distribution at 0.3 Gbit/s, about 170,000 RPCs each. Medians are close (short: Homa 0.29 ms, TCP 0.32 ms). Homa's p99 is lower for short and medium messages; TCP wins long messages because the virtio NICs give it segmentation offload and Homa gets none.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sw1 drops 1 in 50 packets towards h1, any type. h2 runs 300 round trips of 20 KB each way. Every RPC completes intact: h1 noticed the gaps and sent 19 RESENDs, h2 retransmitted 20 packets, nothing timed out. No connection state to repair.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lab's own finding. Shortest-first grants park all but the leading message at low priorities; strict priority starves them for tens of milliseconds at 1 Gbit/s. After 5 ms of silence (resend_ticks) the receiver asks for data that is only queued; the copies overflow the same queue and RPCs time out. Homa's defaults assume 25-100 Gbit/s. Scaling resend_ticks, resend_interval and timeout_ticks by 10 removes the effect.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./lab.sh test runs seven Robot suites in about 12 minutes; the last full run passed all 26 tests. Suite 07 keeps the timer finding as a regression 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the findings. The priority-queue result reproduces Homa's central claim at small scale. The timer finding matters for anyone running Homa on slower links or emulating it. The offload and ecosystem points are the practical costs of adopting it today.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built yet: portal and NMS integration, the upstream patch-series kernel as a second track, the offload investigation, and HomaModule's cluster benchmarks adapted to four nodes.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058400" cy="1097280"/>
          </a:xfrm>
          <a:prstGeom prst="rect">
            <a:avLst/>
          </a:prstGeom>
          <a:noFill/>
        </p:spPr>
        <p:txBody>
          <a:bodyPr wrap="square" lIns="0" rIns="0" tIns="0" bIns="0" anchor="t">
            <a:spAutoFit/>
          </a:bodyPr>
          <a:lstStyle/>
          <a:p>
            <a:pPr algn="l">
              <a:lnSpc>
                <a:spcPct val="100000"/>
              </a:lnSpc>
              <a:spcAft>
                <a:spcPts val="0"/>
              </a:spcAft>
            </a:pPr>
            <a:r>
              <a:rPr sz="4800" b="0" i="0">
                <a:solidFill>
                  <a:srgbClr val="FFFFFF"/>
                </a:solidFill>
                <a:latin typeface="Cambria"/>
              </a:rPr>
              <a:t>Homa, in a lab</a:t>
            </a:r>
          </a:p>
        </p:txBody>
      </p:sp>
      <p:sp>
        <p:nvSpPr>
          <p:cNvPr id="4" name="TextBox 3"/>
          <p:cNvSpPr txBox="1"/>
          <p:nvPr/>
        </p:nvSpPr>
        <p:spPr>
          <a:xfrm>
            <a:off x="822960" y="2880360"/>
            <a:ext cx="10058400" cy="914400"/>
          </a:xfrm>
          <a:prstGeom prst="rect">
            <a:avLst/>
          </a:prstGeom>
          <a:noFill/>
        </p:spPr>
        <p:txBody>
          <a:bodyPr wrap="square" lIns="0" rIns="0" tIns="0" bIns="0" anchor="t">
            <a:spAutoFit/>
          </a:bodyPr>
          <a:lstStyle/>
          <a:p>
            <a:pPr algn="l">
              <a:lnSpc>
                <a:spcPct val="115000"/>
              </a:lnSpc>
              <a:spcAft>
                <a:spcPts val="0"/>
              </a:spcAft>
            </a:pPr>
            <a:r>
              <a:rPr sz="2200" b="0" i="0">
                <a:solidFill>
                  <a:srgbClr val="C3D3EA"/>
                </a:solidFill>
                <a:latin typeface="Calibri"/>
              </a:rPr>
              <a:t>Testing the Linux kernel module for the Homa transport protocol</a:t>
            </a:r>
          </a:p>
        </p:txBody>
      </p:sp>
      <p:sp>
        <p:nvSpPr>
          <p:cNvPr id="5" name="TextBox 4"/>
          <p:cNvSpPr txBox="1"/>
          <p:nvPr/>
        </p:nvSpPr>
        <p:spPr>
          <a:xfrm>
            <a:off x="822960" y="4937760"/>
            <a:ext cx="10058400" cy="914400"/>
          </a:xfrm>
          <a:prstGeom prst="rect">
            <a:avLst/>
          </a:prstGeom>
          <a:noFill/>
        </p:spPr>
        <p:txBody>
          <a:bodyPr wrap="square" lIns="0" rIns="0" tIns="0" bIns="0" anchor="t">
            <a:spAutoFit/>
          </a:bodyPr>
          <a:lstStyle/>
          <a:p>
            <a:pPr algn="l">
              <a:lnSpc>
                <a:spcPct val="140000"/>
              </a:lnSpc>
              <a:spcAft>
                <a:spcPts val="200"/>
              </a:spcAft>
            </a:pPr>
            <a:r>
              <a:rPr sz="1400" b="0" i="0">
                <a:solidFill>
                  <a:srgbClr val="8DA2BE"/>
                </a:solidFill>
                <a:latin typeface="Calibri"/>
              </a:rPr>
              <a:t>homa-lab 0.1.1  ·  kernel 6.17.8  ·  HomaModule main @ 65cecd7  ·  26 of 26 tests passing</a:t>
            </a:r>
          </a:p>
          <a:p>
            <a:pPr algn="l">
              <a:lnSpc>
                <a:spcPct val="140000"/>
              </a:lnSpc>
              <a:spcAft>
                <a:spcPts val="0"/>
              </a:spcAft>
            </a:pPr>
            <a:r>
              <a:rPr sz="1400" b="0" i="0">
                <a:solidFill>
                  <a:srgbClr val="8DA2BE"/>
                </a:solidFill>
                <a:latin typeface="Calibri"/>
              </a:rPr>
              <a:t>Companion to the lab walkthrough (homa-lab-walkthrough.pdf)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822960"/>
          </a:xfrm>
          <a:prstGeom prst="rect">
            <a:avLst/>
          </a:prstGeom>
          <a:noFill/>
        </p:spPr>
        <p:txBody>
          <a:bodyPr wrap="square" lIns="0" rIns="0" tIns="0" bIns="0" anchor="t">
            <a:spAutoFit/>
          </a:bodyPr>
          <a:lstStyle/>
          <a:p>
            <a:pPr algn="l">
              <a:lnSpc>
                <a:spcPct val="115000"/>
              </a:lnSpc>
              <a:spcAft>
                <a:spcPts val="0"/>
              </a:spcAft>
            </a:pPr>
            <a:r>
              <a:rPr sz="3400" b="0" i="0">
                <a:solidFill>
                  <a:srgbClr val="FFFFFF"/>
                </a:solidFill>
                <a:latin typeface="Cambria"/>
              </a:rPr>
              <a:t>What the lab does</a:t>
            </a:r>
          </a:p>
        </p:txBody>
      </p:sp>
      <p:sp>
        <p:nvSpPr>
          <p:cNvPr id="4" name="TextBox 3"/>
          <p:cNvSpPr txBox="1"/>
          <p:nvPr/>
        </p:nvSpPr>
        <p:spPr>
          <a:xfrm>
            <a:off x="822960" y="1554480"/>
            <a:ext cx="10515600" cy="457200"/>
          </a:xfrm>
          <a:prstGeom prst="rect">
            <a:avLst/>
          </a:prstGeom>
          <a:noFill/>
        </p:spPr>
        <p:txBody>
          <a:bodyPr wrap="square" lIns="0" rIns="0" tIns="0" bIns="0" anchor="t">
            <a:spAutoFit/>
          </a:bodyPr>
          <a:lstStyle/>
          <a:p>
            <a:pPr algn="l">
              <a:lnSpc>
                <a:spcPct val="115000"/>
              </a:lnSpc>
              <a:spcAft>
                <a:spcPts val="0"/>
              </a:spcAft>
            </a:pPr>
            <a:r>
              <a:rPr sz="1700" b="0" i="0">
                <a:solidFill>
                  <a:srgbClr val="C3D3EA"/>
                </a:solidFill>
                <a:latin typeface="Calibri"/>
              </a:rPr>
              <a:t>Behaviour and correctness, not datacenter benchmarks</a:t>
            </a:r>
          </a:p>
        </p:txBody>
      </p:sp>
      <p:sp>
        <p:nvSpPr>
          <p:cNvPr id="5" name="Rounded Rectangle 4"/>
          <p:cNvSpPr/>
          <p:nvPr/>
        </p:nvSpPr>
        <p:spPr>
          <a:xfrm>
            <a:off x="822960" y="2377440"/>
            <a:ext cx="2496312" cy="3108960"/>
          </a:xfrm>
          <a:prstGeom prst="roundRect">
            <a:avLst>
              <a:gd name="adj" fmla="val 3529"/>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651760"/>
            <a:ext cx="1993391" cy="41148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Pinned build</a:t>
            </a:r>
          </a:p>
        </p:txBody>
      </p:sp>
      <p:sp>
        <p:nvSpPr>
          <p:cNvPr id="7" name="TextBox 6"/>
          <p:cNvSpPr txBox="1"/>
          <p:nvPr/>
        </p:nvSpPr>
        <p:spPr>
          <a:xfrm>
            <a:off x="1097280" y="3182112"/>
            <a:ext cx="1947672" cy="2148840"/>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Mainline kernel 6.17.8 and a pinned HomaModule commit. One command builds the image and runs the module's 840 unit tests.</a:t>
            </a:r>
          </a:p>
        </p:txBody>
      </p:sp>
      <p:sp>
        <p:nvSpPr>
          <p:cNvPr id="8" name="Rounded Rectangle 7"/>
          <p:cNvSpPr/>
          <p:nvPr/>
        </p:nvSpPr>
        <p:spPr>
          <a:xfrm>
            <a:off x="3502152" y="2377440"/>
            <a:ext cx="2496312" cy="3108960"/>
          </a:xfrm>
          <a:prstGeom prst="roundRect">
            <a:avLst>
              <a:gd name="adj" fmla="val 3529"/>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2651760"/>
            <a:ext cx="1993392" cy="41148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A real switch</a:t>
            </a:r>
          </a:p>
        </p:txBody>
      </p:sp>
      <p:sp>
        <p:nvSpPr>
          <p:cNvPr id="10" name="TextBox 9"/>
          <p:cNvSpPr txBox="1"/>
          <p:nvPr/>
        </p:nvSpPr>
        <p:spPr>
          <a:xfrm>
            <a:off x="3776472" y="3182112"/>
            <a:ext cx="1947672" cy="2148840"/>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sw1 shapes each port to 1 Gbit/s with 8 strict priority queues chosen by the DSCP bits Homa sets, or one FIFO.</a:t>
            </a:r>
          </a:p>
        </p:txBody>
      </p:sp>
      <p:sp>
        <p:nvSpPr>
          <p:cNvPr id="11" name="Rounded Rectangle 10"/>
          <p:cNvSpPr/>
          <p:nvPr/>
        </p:nvSpPr>
        <p:spPr>
          <a:xfrm>
            <a:off x="6181344" y="2377440"/>
            <a:ext cx="2496312" cy="3108960"/>
          </a:xfrm>
          <a:prstGeom prst="roundRect">
            <a:avLst>
              <a:gd name="adj" fmla="val 3529"/>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651760"/>
            <a:ext cx="1993391" cy="41148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Homa's own tools</a:t>
            </a:r>
          </a:p>
        </p:txBody>
      </p:sp>
      <p:sp>
        <p:nvSpPr>
          <p:cNvPr id="13" name="TextBox 12"/>
          <p:cNvSpPr txBox="1"/>
          <p:nvPr/>
        </p:nvSpPr>
        <p:spPr>
          <a:xfrm>
            <a:off x="6455664" y="3182112"/>
            <a:ext cx="1947672" cy="2148840"/>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homa_test, the echo server and cp_node from the module's util/, driven over SSH; a Homa dissector for tshark.</a:t>
            </a:r>
          </a:p>
        </p:txBody>
      </p:sp>
      <p:sp>
        <p:nvSpPr>
          <p:cNvPr id="14" name="Rounded Rectangle 13"/>
          <p:cNvSpPr/>
          <p:nvPr/>
        </p:nvSpPr>
        <p:spPr>
          <a:xfrm>
            <a:off x="8860536" y="2377440"/>
            <a:ext cx="2496312" cy="3108960"/>
          </a:xfrm>
          <a:prstGeom prst="roundRect">
            <a:avLst>
              <a:gd name="adj" fmla="val 3529"/>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34856" y="2651760"/>
            <a:ext cx="1993391" cy="41148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26 tests</a:t>
            </a:r>
          </a:p>
        </p:txBody>
      </p:sp>
      <p:sp>
        <p:nvSpPr>
          <p:cNvPr id="16" name="TextBox 15"/>
          <p:cNvSpPr txBox="1"/>
          <p:nvPr/>
        </p:nvSpPr>
        <p:spPr>
          <a:xfrm>
            <a:off x="9134856" y="3182112"/>
            <a:ext cx="1947672" cy="2148840"/>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Robot suites: platform, function v4/v6, the wire, Homa vs TCP, incast, loss recovery, resend timers.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9601200" cy="411480"/>
          </a:xfrm>
          <a:prstGeom prst="rect">
            <a:avLst/>
          </a:prstGeom>
          <a:noFill/>
        </p:spPr>
        <p:txBody>
          <a:bodyPr wrap="square" lIns="0" rIns="0" tIns="0" bIns="0" anchor="t">
            <a:spAutoFit/>
          </a:bodyPr>
          <a:lstStyle/>
          <a:p>
            <a:pPr algn="l">
              <a:lnSpc>
                <a:spcPct val="115000"/>
              </a:lnSpc>
              <a:spcAft>
                <a:spcPts val="0"/>
              </a:spcAft>
            </a:pPr>
            <a:r>
              <a:rPr sz="1500" b="0" i="0">
                <a:solidFill>
                  <a:srgbClr val="8DB8EE"/>
                </a:solidFill>
                <a:latin typeface="Calibri"/>
              </a:rPr>
              <a:t>PART 1</a:t>
            </a:r>
          </a:p>
        </p:txBody>
      </p:sp>
      <p:sp>
        <p:nvSpPr>
          <p:cNvPr id="4" name="TextBox 3"/>
          <p:cNvSpPr txBox="1"/>
          <p:nvPr/>
        </p:nvSpPr>
        <p:spPr>
          <a:xfrm>
            <a:off x="1005840" y="2606040"/>
            <a:ext cx="9875520" cy="1005840"/>
          </a:xfrm>
          <a:prstGeom prst="rect">
            <a:avLst/>
          </a:prstGeom>
          <a:noFill/>
        </p:spPr>
        <p:txBody>
          <a:bodyPr wrap="square" lIns="0" rIns="0" tIns="0" bIns="0" anchor="t">
            <a:spAutoFit/>
          </a:bodyPr>
          <a:lstStyle/>
          <a:p>
            <a:pPr algn="l">
              <a:lnSpc>
                <a:spcPct val="100000"/>
              </a:lnSpc>
              <a:spcAft>
                <a:spcPts val="0"/>
              </a:spcAft>
            </a:pPr>
            <a:r>
              <a:rPr sz="4400" b="0" i="0">
                <a:solidFill>
                  <a:srgbClr val="FFFFFF"/>
                </a:solidFill>
                <a:latin typeface="Cambria"/>
              </a:rPr>
              <a:t>Homa for dummies</a:t>
            </a:r>
          </a:p>
        </p:txBody>
      </p:sp>
      <p:sp>
        <p:nvSpPr>
          <p:cNvPr id="5" name="TextBox 4"/>
          <p:cNvSpPr txBox="1"/>
          <p:nvPr/>
        </p:nvSpPr>
        <p:spPr>
          <a:xfrm>
            <a:off x="1005840" y="3840480"/>
            <a:ext cx="9875520" cy="1645920"/>
          </a:xfrm>
          <a:prstGeom prst="rect">
            <a:avLst/>
          </a:prstGeom>
          <a:noFill/>
        </p:spPr>
        <p:txBody>
          <a:bodyPr wrap="square" lIns="0" rIns="0" tIns="0" bIns="0" anchor="t">
            <a:spAutoFit/>
          </a:bodyPr>
          <a:lstStyle/>
          <a:p>
            <a:pPr algn="l">
              <a:lnSpc>
                <a:spcPct val="135000"/>
              </a:lnSpc>
              <a:spcAft>
                <a:spcPts val="0"/>
              </a:spcAft>
            </a:pPr>
            <a:r>
              <a:rPr sz="1700" b="0" i="0">
                <a:solidFill>
                  <a:srgbClr val="C3D3EA"/>
                </a:solidFill>
                <a:latin typeface="Calibri"/>
              </a:rPr>
              <a:t>What problem Homa solves, how it works, and what it costs — no networking background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The problem is the slowest message</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One click fans out to hundreds of small requests; the page waits for the last answer</a:t>
            </a:r>
          </a:p>
        </p:txBody>
      </p:sp>
      <p:sp>
        <p:nvSpPr>
          <p:cNvPr id="5" name="Rounded Rectangle 4"/>
          <p:cNvSpPr/>
          <p:nvPr/>
        </p:nvSpPr>
        <p:spPr>
          <a:xfrm>
            <a:off x="685800" y="2011680"/>
            <a:ext cx="3291840" cy="1920240"/>
          </a:xfrm>
          <a:prstGeom prst="roundRect">
            <a:avLst>
              <a:gd name="adj" fmla="val 3333"/>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2834640" cy="960120"/>
          </a:xfrm>
          <a:prstGeom prst="rect">
            <a:avLst/>
          </a:prstGeom>
          <a:noFill/>
        </p:spPr>
        <p:txBody>
          <a:bodyPr wrap="square" lIns="0" rIns="0" tIns="0" bIns="0" anchor="ctr">
            <a:spAutoFit/>
          </a:bodyPr>
          <a:lstStyle/>
          <a:p>
            <a:pPr algn="ctr">
              <a:lnSpc>
                <a:spcPct val="115000"/>
              </a:lnSpc>
              <a:spcAft>
                <a:spcPts val="0"/>
              </a:spcAft>
            </a:pPr>
            <a:r>
              <a:rPr sz="5400" b="0" i="0">
                <a:solidFill>
                  <a:srgbClr val="2A78D6"/>
                </a:solidFill>
                <a:latin typeface="Cambria"/>
              </a:rPr>
              <a:t>1 in 100</a:t>
            </a:r>
          </a:p>
        </p:txBody>
      </p:sp>
      <p:sp>
        <p:nvSpPr>
          <p:cNvPr id="7" name="TextBox 6"/>
          <p:cNvSpPr txBox="1"/>
          <p:nvPr/>
        </p:nvSpPr>
        <p:spPr>
          <a:xfrm>
            <a:off x="914400" y="3200400"/>
            <a:ext cx="2834640"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messages is slow</a:t>
            </a:r>
          </a:p>
        </p:txBody>
      </p:sp>
      <p:sp>
        <p:nvSpPr>
          <p:cNvPr id="8" name="Rounded Rectangle 7"/>
          <p:cNvSpPr/>
          <p:nvPr/>
        </p:nvSpPr>
        <p:spPr>
          <a:xfrm>
            <a:off x="4206240" y="2011680"/>
            <a:ext cx="3291840" cy="1920240"/>
          </a:xfrm>
          <a:prstGeom prst="roundRect">
            <a:avLst>
              <a:gd name="adj" fmla="val 3333"/>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2194560"/>
            <a:ext cx="2834640" cy="960120"/>
          </a:xfrm>
          <a:prstGeom prst="rect">
            <a:avLst/>
          </a:prstGeom>
          <a:noFill/>
        </p:spPr>
        <p:txBody>
          <a:bodyPr wrap="square" lIns="0" rIns="0" tIns="0" bIns="0" anchor="ctr">
            <a:spAutoFit/>
          </a:bodyPr>
          <a:lstStyle/>
          <a:p>
            <a:pPr algn="ctr">
              <a:lnSpc>
                <a:spcPct val="115000"/>
              </a:lnSpc>
              <a:spcAft>
                <a:spcPts val="0"/>
              </a:spcAft>
            </a:pPr>
            <a:r>
              <a:rPr sz="5400" b="0" i="0">
                <a:solidFill>
                  <a:srgbClr val="2A78D6"/>
                </a:solidFill>
                <a:latin typeface="Cambria"/>
              </a:rPr>
              <a:t>× 100</a:t>
            </a:r>
          </a:p>
        </p:txBody>
      </p:sp>
      <p:sp>
        <p:nvSpPr>
          <p:cNvPr id="10" name="TextBox 9"/>
          <p:cNvSpPr txBox="1"/>
          <p:nvPr/>
        </p:nvSpPr>
        <p:spPr>
          <a:xfrm>
            <a:off x="4434840" y="3200400"/>
            <a:ext cx="2834640"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messages per page</a:t>
            </a:r>
          </a:p>
        </p:txBody>
      </p:sp>
      <p:sp>
        <p:nvSpPr>
          <p:cNvPr id="11" name="Rounded Rectangle 10"/>
          <p:cNvSpPr/>
          <p:nvPr/>
        </p:nvSpPr>
        <p:spPr>
          <a:xfrm>
            <a:off x="7726679" y="2011680"/>
            <a:ext cx="3776472" cy="1920240"/>
          </a:xfrm>
          <a:prstGeom prst="roundRect">
            <a:avLst>
              <a:gd name="adj" fmla="val 29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2194560"/>
            <a:ext cx="3319272" cy="960120"/>
          </a:xfrm>
          <a:prstGeom prst="rect">
            <a:avLst/>
          </a:prstGeom>
          <a:noFill/>
        </p:spPr>
        <p:txBody>
          <a:bodyPr wrap="square" lIns="0" rIns="0" tIns="0" bIns="0" anchor="ctr">
            <a:spAutoFit/>
          </a:bodyPr>
          <a:lstStyle/>
          <a:p>
            <a:pPr algn="ctr">
              <a:lnSpc>
                <a:spcPct val="115000"/>
              </a:lnSpc>
              <a:spcAft>
                <a:spcPts val="0"/>
              </a:spcAft>
            </a:pPr>
            <a:r>
              <a:rPr sz="5400" b="0" i="0">
                <a:solidFill>
                  <a:srgbClr val="EB6834"/>
                </a:solidFill>
                <a:latin typeface="Cambria"/>
              </a:rPr>
              <a:t>63%</a:t>
            </a:r>
          </a:p>
        </p:txBody>
      </p:sp>
      <p:sp>
        <p:nvSpPr>
          <p:cNvPr id="13" name="TextBox 12"/>
          <p:cNvSpPr txBox="1"/>
          <p:nvPr/>
        </p:nvSpPr>
        <p:spPr>
          <a:xfrm>
            <a:off x="7955279" y="3200400"/>
            <a:ext cx="3319272"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of pages are slow</a:t>
            </a:r>
          </a:p>
        </p:txBody>
      </p:sp>
      <p:sp>
        <p:nvSpPr>
          <p:cNvPr id="14" name="TextBox 13"/>
          <p:cNvSpPr txBox="1"/>
          <p:nvPr/>
        </p:nvSpPr>
        <p:spPr>
          <a:xfrm>
            <a:off x="685800" y="4343400"/>
            <a:ext cx="10817352" cy="1828800"/>
          </a:xfrm>
          <a:prstGeom prst="rect">
            <a:avLst/>
          </a:prstGeom>
          <a:noFill/>
        </p:spPr>
        <p:txBody>
          <a:bodyPr wrap="square" lIns="0" rIns="0" tIns="0" bIns="0" anchor="t">
            <a:spAutoFit/>
          </a:bodyPr>
          <a:lstStyle/>
          <a:p>
            <a:pPr algn="l">
              <a:lnSpc>
                <a:spcPct val="130000"/>
              </a:lnSpc>
              <a:spcAft>
                <a:spcPts val="1000"/>
              </a:spcAft>
            </a:pPr>
            <a:r>
              <a:rPr sz="1700" b="0" i="0">
                <a:solidFill>
                  <a:srgbClr val="1F2937"/>
                </a:solidFill>
                <a:latin typeface="Calibri"/>
              </a:rPr>
              <a:t>Datacenter traffic is mostly tiny messages — a few hundred bytes — mixed with occasional big transfers. With TCP the tiny ones get stuck in queues behind the big ones.</a:t>
            </a:r>
          </a:p>
          <a:p>
            <a:pPr algn="l">
              <a:lnSpc>
                <a:spcPct val="130000"/>
              </a:lnSpc>
              <a:spcAft>
                <a:spcPts val="0"/>
              </a:spcAft>
            </a:pPr>
            <a:r>
              <a:rPr sz="1700" b="1" i="0">
                <a:solidFill>
                  <a:srgbClr val="1F2937"/>
                </a:solidFill>
                <a:latin typeface="Calibri"/>
              </a:rPr>
              <a:t>What has to improve is the tail (the 99th percentile), not the average.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A road versus a loading dock</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Who decides when data moves, and whether small things can overtake</a:t>
            </a:r>
          </a:p>
        </p:txBody>
      </p:sp>
      <p:sp>
        <p:nvSpPr>
          <p:cNvPr id="5" name="Rounded Rectangle 4"/>
          <p:cNvSpPr/>
          <p:nvPr/>
        </p:nvSpPr>
        <p:spPr>
          <a:xfrm>
            <a:off x="685800" y="1874519"/>
            <a:ext cx="5257800" cy="4206240"/>
          </a:xfrm>
          <a:prstGeom prst="roundRect">
            <a:avLst>
              <a:gd name="adj" fmla="val 2086"/>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48839"/>
            <a:ext cx="4754880"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TCP: a single-lane road</a:t>
            </a:r>
          </a:p>
        </p:txBody>
      </p:sp>
      <p:sp>
        <p:nvSpPr>
          <p:cNvPr id="7" name="TextBox 6"/>
          <p:cNvSpPr txBox="1"/>
          <p:nvPr/>
        </p:nvSpPr>
        <p:spPr>
          <a:xfrm>
            <a:off x="960120" y="2679191"/>
            <a:ext cx="4709160" cy="324612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Each sender opens a connection and streams bytes. Drivers accelerate until there is a crash (a lost packet), then brake. Queues fill up before anyone slows down.
A pizza scooter behind a convoy of trucks waits behind all of them.</a:t>
            </a:r>
          </a:p>
        </p:txBody>
      </p:sp>
      <p:sp>
        <p:nvSpPr>
          <p:cNvPr id="8" name="Rounded Rectangle 7"/>
          <p:cNvSpPr/>
          <p:nvPr/>
        </p:nvSpPr>
        <p:spPr>
          <a:xfrm>
            <a:off x="6245352" y="1874519"/>
            <a:ext cx="5257800" cy="4206240"/>
          </a:xfrm>
          <a:prstGeom prst="roundRect">
            <a:avLst>
              <a:gd name="adj" fmla="val 2086"/>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2148839"/>
            <a:ext cx="4754880"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Homa: a dock with a dispatcher</a:t>
            </a:r>
          </a:p>
        </p:txBody>
      </p:sp>
      <p:sp>
        <p:nvSpPr>
          <p:cNvPr id="10" name="TextBox 9"/>
          <p:cNvSpPr txBox="1"/>
          <p:nvPr/>
        </p:nvSpPr>
        <p:spPr>
          <a:xfrm>
            <a:off x="6519672" y="2679191"/>
            <a:ext cx="4709160" cy="324612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Small parcels drive straight in on an express lane. Anyone with a truckload phones ahead; the dispatcher, who sees everything coming, tells each truck when to come — the one with the least left to unload goes first.
Nobody crashes into a full queue, and the scooter never waits behind a truck.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How Homa works, in five ideas</a:t>
            </a:r>
          </a:p>
        </p:txBody>
      </p:sp>
      <p:sp>
        <p:nvSpPr>
          <p:cNvPr id="4" name="Oval 3"/>
          <p:cNvSpPr/>
          <p:nvPr/>
        </p:nvSpPr>
        <p:spPr>
          <a:xfrm>
            <a:off x="685800" y="1536192"/>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66928"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FFFFFF"/>
                </a:solidFill>
                <a:latin typeface="Cambria"/>
              </a:rPr>
              <a:t>1</a:t>
            </a:r>
          </a:p>
        </p:txBody>
      </p:sp>
      <p:sp>
        <p:nvSpPr>
          <p:cNvPr id="6" name="TextBox 5"/>
          <p:cNvSpPr txBox="1"/>
          <p:nvPr/>
        </p:nvSpPr>
        <p:spPr>
          <a:xfrm>
            <a:off x="1508760" y="1481328"/>
            <a:ext cx="4023360" cy="457200"/>
          </a:xfrm>
          <a:prstGeom prst="rect">
            <a:avLst/>
          </a:prstGeom>
          <a:noFill/>
        </p:spPr>
        <p:txBody>
          <a:bodyPr wrap="square" lIns="0" rIns="0" tIns="0" bIns="0" anchor="ctr">
            <a:spAutoFit/>
          </a:bodyPr>
          <a:lstStyle/>
          <a:p>
            <a:pPr algn="l">
              <a:lnSpc>
                <a:spcPct val="115000"/>
              </a:lnSpc>
              <a:spcAft>
                <a:spcPts val="0"/>
              </a:spcAft>
            </a:pPr>
            <a:r>
              <a:rPr sz="1900" b="0" i="0">
                <a:solidFill>
                  <a:srgbClr val="0B1A2E"/>
                </a:solidFill>
                <a:latin typeface="Calibri"/>
              </a:rPr>
              <a:t>Messages, not streams</a:t>
            </a:r>
          </a:p>
        </p:txBody>
      </p:sp>
      <p:sp>
        <p:nvSpPr>
          <p:cNvPr id="7" name="TextBox 6"/>
          <p:cNvSpPr txBox="1"/>
          <p:nvPr/>
        </p:nvSpPr>
        <p:spPr>
          <a:xfrm>
            <a:off x="5486400" y="1536192"/>
            <a:ext cx="6035040" cy="548640"/>
          </a:xfrm>
          <a:prstGeom prst="rect">
            <a:avLst/>
          </a:prstGeom>
          <a:noFill/>
        </p:spPr>
        <p:txBody>
          <a:bodyPr wrap="square" lIns="0" rIns="0" tIns="0" bIns="0" anchor="ctr">
            <a:spAutoFit/>
          </a:bodyPr>
          <a:lstStyle/>
          <a:p>
            <a:pPr algn="l">
              <a:lnSpc>
                <a:spcPct val="115000"/>
              </a:lnSpc>
              <a:spcAft>
                <a:spcPts val="0"/>
              </a:spcAft>
            </a:pPr>
            <a:r>
              <a:rPr sz="1600" b="0" i="0">
                <a:solidFill>
                  <a:srgbClr val="1F2937"/>
                </a:solidFill>
                <a:latin typeface="Calibri"/>
              </a:rPr>
              <a:t>Whole messages in, whole messages out: request + response = an RPC.</a:t>
            </a:r>
          </a:p>
        </p:txBody>
      </p:sp>
      <p:sp>
        <p:nvSpPr>
          <p:cNvPr id="8" name="Oval 7"/>
          <p:cNvSpPr/>
          <p:nvPr/>
        </p:nvSpPr>
        <p:spPr>
          <a:xfrm>
            <a:off x="685800" y="2523744"/>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33472"/>
            <a:ext cx="566928"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FFFFFF"/>
                </a:solidFill>
                <a:latin typeface="Cambria"/>
              </a:rPr>
              <a:t>2</a:t>
            </a:r>
          </a:p>
        </p:txBody>
      </p:sp>
      <p:sp>
        <p:nvSpPr>
          <p:cNvPr id="10" name="TextBox 9"/>
          <p:cNvSpPr txBox="1"/>
          <p:nvPr/>
        </p:nvSpPr>
        <p:spPr>
          <a:xfrm>
            <a:off x="1508760" y="2468880"/>
            <a:ext cx="4023360" cy="457200"/>
          </a:xfrm>
          <a:prstGeom prst="rect">
            <a:avLst/>
          </a:prstGeom>
          <a:noFill/>
        </p:spPr>
        <p:txBody>
          <a:bodyPr wrap="square" lIns="0" rIns="0" tIns="0" bIns="0" anchor="ctr">
            <a:spAutoFit/>
          </a:bodyPr>
          <a:lstStyle/>
          <a:p>
            <a:pPr algn="l">
              <a:lnSpc>
                <a:spcPct val="115000"/>
              </a:lnSpc>
              <a:spcAft>
                <a:spcPts val="0"/>
              </a:spcAft>
            </a:pPr>
            <a:r>
              <a:rPr sz="1900" b="0" i="0">
                <a:solidFill>
                  <a:srgbClr val="0B1A2E"/>
                </a:solidFill>
                <a:latin typeface="Calibri"/>
              </a:rPr>
              <a:t>No connections</a:t>
            </a:r>
          </a:p>
        </p:txBody>
      </p:sp>
      <p:sp>
        <p:nvSpPr>
          <p:cNvPr id="11" name="TextBox 10"/>
          <p:cNvSpPr txBox="1"/>
          <p:nvPr/>
        </p:nvSpPr>
        <p:spPr>
          <a:xfrm>
            <a:off x="5486400" y="2523744"/>
            <a:ext cx="6035040" cy="548640"/>
          </a:xfrm>
          <a:prstGeom prst="rect">
            <a:avLst/>
          </a:prstGeom>
          <a:noFill/>
        </p:spPr>
        <p:txBody>
          <a:bodyPr wrap="square" lIns="0" rIns="0" tIns="0" bIns="0" anchor="ctr">
            <a:spAutoFit/>
          </a:bodyPr>
          <a:lstStyle/>
          <a:p>
            <a:pPr algn="l">
              <a:lnSpc>
                <a:spcPct val="115000"/>
              </a:lnSpc>
              <a:spcAft>
                <a:spcPts val="0"/>
              </a:spcAft>
            </a:pPr>
            <a:r>
              <a:rPr sz="1600" b="0" i="0">
                <a:solidFill>
                  <a:srgbClr val="1F2937"/>
                </a:solidFill>
                <a:latin typeface="Calibri"/>
              </a:rPr>
              <a:t>One socket talks to thousands of peers with no setup or teardown.</a:t>
            </a:r>
          </a:p>
        </p:txBody>
      </p:sp>
      <p:sp>
        <p:nvSpPr>
          <p:cNvPr id="12" name="Oval 11"/>
          <p:cNvSpPr/>
          <p:nvPr/>
        </p:nvSpPr>
        <p:spPr>
          <a:xfrm>
            <a:off x="685800" y="3511296"/>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621024"/>
            <a:ext cx="566928"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FFFFFF"/>
                </a:solidFill>
                <a:latin typeface="Cambria"/>
              </a:rPr>
              <a:t>3</a:t>
            </a:r>
          </a:p>
        </p:txBody>
      </p:sp>
      <p:sp>
        <p:nvSpPr>
          <p:cNvPr id="14" name="TextBox 13"/>
          <p:cNvSpPr txBox="1"/>
          <p:nvPr/>
        </p:nvSpPr>
        <p:spPr>
          <a:xfrm>
            <a:off x="1508760" y="3456432"/>
            <a:ext cx="4023360" cy="457200"/>
          </a:xfrm>
          <a:prstGeom prst="rect">
            <a:avLst/>
          </a:prstGeom>
          <a:noFill/>
        </p:spPr>
        <p:txBody>
          <a:bodyPr wrap="square" lIns="0" rIns="0" tIns="0" bIns="0" anchor="ctr">
            <a:spAutoFit/>
          </a:bodyPr>
          <a:lstStyle/>
          <a:p>
            <a:pPr algn="l">
              <a:lnSpc>
                <a:spcPct val="115000"/>
              </a:lnSpc>
              <a:spcAft>
                <a:spcPts val="0"/>
              </a:spcAft>
            </a:pPr>
            <a:r>
              <a:rPr sz="1900" b="0" i="0">
                <a:solidFill>
                  <a:srgbClr val="0B1A2E"/>
                </a:solidFill>
                <a:latin typeface="Calibri"/>
              </a:rPr>
              <a:t>Small messages just go</a:t>
            </a:r>
          </a:p>
        </p:txBody>
      </p:sp>
      <p:sp>
        <p:nvSpPr>
          <p:cNvPr id="15" name="TextBox 14"/>
          <p:cNvSpPr txBox="1"/>
          <p:nvPr/>
        </p:nvSpPr>
        <p:spPr>
          <a:xfrm>
            <a:off x="5486400" y="3511296"/>
            <a:ext cx="6035040" cy="548640"/>
          </a:xfrm>
          <a:prstGeom prst="rect">
            <a:avLst/>
          </a:prstGeom>
          <a:noFill/>
        </p:spPr>
        <p:txBody>
          <a:bodyPr wrap="square" lIns="0" rIns="0" tIns="0" bIns="0" anchor="ctr">
            <a:spAutoFit/>
          </a:bodyPr>
          <a:lstStyle/>
          <a:p>
            <a:pPr algn="l">
              <a:lnSpc>
                <a:spcPct val="115000"/>
              </a:lnSpc>
              <a:spcAft>
                <a:spcPts val="0"/>
              </a:spcAft>
            </a:pPr>
            <a:r>
              <a:rPr sz="1600" b="0" i="0">
                <a:solidFill>
                  <a:srgbClr val="1F2937"/>
                </a:solidFill>
                <a:latin typeface="Calibri"/>
              </a:rPr>
              <a:t>Up to ~40 KB is sent at once; a longer message is announced and waits.</a:t>
            </a:r>
          </a:p>
        </p:txBody>
      </p:sp>
      <p:sp>
        <p:nvSpPr>
          <p:cNvPr id="16" name="Oval 15"/>
          <p:cNvSpPr/>
          <p:nvPr/>
        </p:nvSpPr>
        <p:spPr>
          <a:xfrm>
            <a:off x="685800" y="4498848"/>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608576"/>
            <a:ext cx="566928"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FFFFFF"/>
                </a:solidFill>
                <a:latin typeface="Cambria"/>
              </a:rPr>
              <a:t>4</a:t>
            </a:r>
          </a:p>
        </p:txBody>
      </p:sp>
      <p:sp>
        <p:nvSpPr>
          <p:cNvPr id="18" name="TextBox 17"/>
          <p:cNvSpPr txBox="1"/>
          <p:nvPr/>
        </p:nvSpPr>
        <p:spPr>
          <a:xfrm>
            <a:off x="1508760" y="4443983"/>
            <a:ext cx="4023360" cy="457200"/>
          </a:xfrm>
          <a:prstGeom prst="rect">
            <a:avLst/>
          </a:prstGeom>
          <a:noFill/>
        </p:spPr>
        <p:txBody>
          <a:bodyPr wrap="square" lIns="0" rIns="0" tIns="0" bIns="0" anchor="ctr">
            <a:spAutoFit/>
          </a:bodyPr>
          <a:lstStyle/>
          <a:p>
            <a:pPr algn="l">
              <a:lnSpc>
                <a:spcPct val="115000"/>
              </a:lnSpc>
              <a:spcAft>
                <a:spcPts val="0"/>
              </a:spcAft>
            </a:pPr>
            <a:r>
              <a:rPr sz="1900" b="0" i="0">
                <a:solidFill>
                  <a:srgbClr val="0B1A2E"/>
                </a:solidFill>
                <a:latin typeface="Calibri"/>
              </a:rPr>
              <a:t>The receiver dispatches</a:t>
            </a:r>
          </a:p>
        </p:txBody>
      </p:sp>
      <p:sp>
        <p:nvSpPr>
          <p:cNvPr id="19" name="TextBox 18"/>
          <p:cNvSpPr txBox="1"/>
          <p:nvPr/>
        </p:nvSpPr>
        <p:spPr>
          <a:xfrm>
            <a:off x="5486400" y="4498848"/>
            <a:ext cx="6035040" cy="548640"/>
          </a:xfrm>
          <a:prstGeom prst="rect">
            <a:avLst/>
          </a:prstGeom>
          <a:noFill/>
        </p:spPr>
        <p:txBody>
          <a:bodyPr wrap="square" lIns="0" rIns="0" tIns="0" bIns="0" anchor="ctr">
            <a:spAutoFit/>
          </a:bodyPr>
          <a:lstStyle/>
          <a:p>
            <a:pPr algn="l">
              <a:lnSpc>
                <a:spcPct val="115000"/>
              </a:lnSpc>
              <a:spcAft>
                <a:spcPts val="0"/>
              </a:spcAft>
            </a:pPr>
            <a:r>
              <a:rPr sz="1600" b="0" i="0">
                <a:solidFill>
                  <a:srgbClr val="1F2937"/>
                </a:solidFill>
                <a:latin typeface="Calibri"/>
              </a:rPr>
              <a:t>It grants permission to send, closest-to-finishing first.</a:t>
            </a:r>
          </a:p>
        </p:txBody>
      </p:sp>
      <p:sp>
        <p:nvSpPr>
          <p:cNvPr id="20" name="Oval 19"/>
          <p:cNvSpPr/>
          <p:nvPr/>
        </p:nvSpPr>
        <p:spPr>
          <a:xfrm>
            <a:off x="685800" y="5486400"/>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596128"/>
            <a:ext cx="566928"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FFFFFF"/>
                </a:solidFill>
                <a:latin typeface="Cambria"/>
              </a:rPr>
              <a:t>5</a:t>
            </a:r>
          </a:p>
        </p:txBody>
      </p:sp>
      <p:sp>
        <p:nvSpPr>
          <p:cNvPr id="22" name="TextBox 21"/>
          <p:cNvSpPr txBox="1"/>
          <p:nvPr/>
        </p:nvSpPr>
        <p:spPr>
          <a:xfrm>
            <a:off x="1508760" y="5431536"/>
            <a:ext cx="4023360" cy="457200"/>
          </a:xfrm>
          <a:prstGeom prst="rect">
            <a:avLst/>
          </a:prstGeom>
          <a:noFill/>
        </p:spPr>
        <p:txBody>
          <a:bodyPr wrap="square" lIns="0" rIns="0" tIns="0" bIns="0" anchor="ctr">
            <a:spAutoFit/>
          </a:bodyPr>
          <a:lstStyle/>
          <a:p>
            <a:pPr algn="l">
              <a:lnSpc>
                <a:spcPct val="115000"/>
              </a:lnSpc>
              <a:spcAft>
                <a:spcPts val="0"/>
              </a:spcAft>
            </a:pPr>
            <a:r>
              <a:rPr sz="1900" b="0" i="0">
                <a:solidFill>
                  <a:srgbClr val="0B1A2E"/>
                </a:solidFill>
                <a:latin typeface="Calibri"/>
              </a:rPr>
              <a:t>Express lanes in the switch</a:t>
            </a:r>
          </a:p>
        </p:txBody>
      </p:sp>
      <p:sp>
        <p:nvSpPr>
          <p:cNvPr id="23" name="TextBox 22"/>
          <p:cNvSpPr txBox="1"/>
          <p:nvPr/>
        </p:nvSpPr>
        <p:spPr>
          <a:xfrm>
            <a:off x="5486400" y="5486400"/>
            <a:ext cx="6035040" cy="548640"/>
          </a:xfrm>
          <a:prstGeom prst="rect">
            <a:avLst/>
          </a:prstGeom>
          <a:noFill/>
        </p:spPr>
        <p:txBody>
          <a:bodyPr wrap="square" lIns="0" rIns="0" tIns="0" bIns="0" anchor="ctr">
            <a:spAutoFit/>
          </a:bodyPr>
          <a:lstStyle/>
          <a:p>
            <a:pPr algn="l">
              <a:lnSpc>
                <a:spcPct val="115000"/>
              </a:lnSpc>
              <a:spcAft>
                <a:spcPts val="0"/>
              </a:spcAft>
            </a:pPr>
            <a:r>
              <a:rPr sz="1600" b="0" i="0">
                <a:solidFill>
                  <a:srgbClr val="1F2937"/>
                </a:solidFill>
                <a:latin typeface="Calibri"/>
              </a:rPr>
              <a:t>Each packet carries a priority 0–7; switches serve 7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What Homa gives you</a:t>
            </a:r>
          </a:p>
        </p:txBody>
      </p:sp>
      <p:sp>
        <p:nvSpPr>
          <p:cNvPr id="4" name="Rounded Rectangle 3"/>
          <p:cNvSpPr/>
          <p:nvPr/>
        </p:nvSpPr>
        <p:spPr>
          <a:xfrm>
            <a:off x="685800" y="1463040"/>
            <a:ext cx="3422904" cy="21031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37360"/>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Low tail latency</a:t>
            </a:r>
          </a:p>
        </p:txBody>
      </p:sp>
      <p:sp>
        <p:nvSpPr>
          <p:cNvPr id="6" name="TextBox 5"/>
          <p:cNvSpPr txBox="1"/>
          <p:nvPr/>
        </p:nvSpPr>
        <p:spPr>
          <a:xfrm>
            <a:off x="960120" y="2267712"/>
            <a:ext cx="2874264" cy="114300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Papers report 10–100× lower p99 for short messages under load than TCP.</a:t>
            </a:r>
          </a:p>
        </p:txBody>
      </p:sp>
      <p:sp>
        <p:nvSpPr>
          <p:cNvPr id="7" name="Rounded Rectangle 6"/>
          <p:cNvSpPr/>
          <p:nvPr/>
        </p:nvSpPr>
        <p:spPr>
          <a:xfrm>
            <a:off x="4383024" y="1463040"/>
            <a:ext cx="3422904" cy="21031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7344" y="1737360"/>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No head-of-line blocking</a:t>
            </a:r>
          </a:p>
        </p:txBody>
      </p:sp>
      <p:sp>
        <p:nvSpPr>
          <p:cNvPr id="9" name="TextBox 8"/>
          <p:cNvSpPr txBox="1"/>
          <p:nvPr/>
        </p:nvSpPr>
        <p:spPr>
          <a:xfrm>
            <a:off x="4657344" y="2267712"/>
            <a:ext cx="2874264" cy="114300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Messages are independent; one slow message doesn't hold up the rest.</a:t>
            </a:r>
          </a:p>
        </p:txBody>
      </p:sp>
      <p:sp>
        <p:nvSpPr>
          <p:cNvPr id="10" name="Rounded Rectangle 9"/>
          <p:cNvSpPr/>
          <p:nvPr/>
        </p:nvSpPr>
        <p:spPr>
          <a:xfrm>
            <a:off x="8080248" y="1463040"/>
            <a:ext cx="3422904" cy="21031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4568" y="1737360"/>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Incast by design</a:t>
            </a:r>
          </a:p>
        </p:txBody>
      </p:sp>
      <p:sp>
        <p:nvSpPr>
          <p:cNvPr id="12" name="TextBox 11"/>
          <p:cNvSpPr txBox="1"/>
          <p:nvPr/>
        </p:nvSpPr>
        <p:spPr>
          <a:xfrm>
            <a:off x="8354568" y="2267712"/>
            <a:ext cx="2874264" cy="114300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When 100 servers answer at once, the receiver lets them in a few at a time.</a:t>
            </a:r>
          </a:p>
        </p:txBody>
      </p:sp>
      <p:sp>
        <p:nvSpPr>
          <p:cNvPr id="13" name="Rounded Rectangle 12"/>
          <p:cNvSpPr/>
          <p:nvPr/>
        </p:nvSpPr>
        <p:spPr>
          <a:xfrm>
            <a:off x="685800" y="3840479"/>
            <a:ext cx="3422904" cy="21031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114799"/>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Scales to many peers</a:t>
            </a:r>
          </a:p>
        </p:txBody>
      </p:sp>
      <p:sp>
        <p:nvSpPr>
          <p:cNvPr id="15" name="TextBox 14"/>
          <p:cNvSpPr txBox="1"/>
          <p:nvPr/>
        </p:nvSpPr>
        <p:spPr>
          <a:xfrm>
            <a:off x="960120" y="4645151"/>
            <a:ext cx="2874264" cy="114300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No connection per pair: no handshakes, no connection tables.</a:t>
            </a:r>
          </a:p>
        </p:txBody>
      </p:sp>
      <p:sp>
        <p:nvSpPr>
          <p:cNvPr id="16" name="Rounded Rectangle 15"/>
          <p:cNvSpPr/>
          <p:nvPr/>
        </p:nvSpPr>
        <p:spPr>
          <a:xfrm>
            <a:off x="4383024" y="3840479"/>
            <a:ext cx="3422904" cy="21031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7344" y="4114799"/>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Fits RPC software</a:t>
            </a:r>
          </a:p>
        </p:txBody>
      </p:sp>
      <p:sp>
        <p:nvSpPr>
          <p:cNvPr id="18" name="TextBox 17"/>
          <p:cNvSpPr txBox="1"/>
          <p:nvPr/>
        </p:nvSpPr>
        <p:spPr>
          <a:xfrm>
            <a:off x="4657344" y="4645151"/>
            <a:ext cx="2874264" cy="114300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Gives frameworks messages directly instead of a byte stream.</a:t>
            </a:r>
          </a:p>
        </p:txBody>
      </p:sp>
      <p:sp>
        <p:nvSpPr>
          <p:cNvPr id="19" name="Rounded Rectangle 18"/>
          <p:cNvSpPr/>
          <p:nvPr/>
        </p:nvSpPr>
        <p:spPr>
          <a:xfrm>
            <a:off x="8080248" y="3840479"/>
            <a:ext cx="3422904" cy="21031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4568" y="4114799"/>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Uses existing hardware</a:t>
            </a:r>
          </a:p>
        </p:txBody>
      </p:sp>
      <p:sp>
        <p:nvSpPr>
          <p:cNvPr id="21" name="TextBox 20"/>
          <p:cNvSpPr txBox="1"/>
          <p:nvPr/>
        </p:nvSpPr>
        <p:spPr>
          <a:xfrm>
            <a:off x="8354568" y="4645151"/>
            <a:ext cx="2874264" cy="1143000"/>
          </a:xfrm>
          <a:prstGeom prst="rect">
            <a:avLst/>
          </a:prstGeom>
          <a:noFill/>
        </p:spPr>
        <p:txBody>
          <a:bodyPr wrap="square" lIns="0" rIns="0" tIns="0" bIns="0" anchor="t">
            <a:spAutoFit/>
          </a:bodyPr>
          <a:lstStyle/>
          <a:p>
            <a:pPr algn="l">
              <a:lnSpc>
                <a:spcPct val="120000"/>
              </a:lnSpc>
              <a:spcAft>
                <a:spcPts val="0"/>
              </a:spcAft>
            </a:pPr>
            <a:r>
              <a:rPr sz="1600" b="0" i="0">
                <a:solidFill>
                  <a:srgbClr val="1F2937"/>
                </a:solidFill>
                <a:latin typeface="Calibri"/>
              </a:rPr>
              <a:t>Switch priority queues already exist; they just need configuring.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What it costs</a:t>
            </a:r>
          </a:p>
        </p:txBody>
      </p:sp>
      <p:sp>
        <p:nvSpPr>
          <p:cNvPr id="4" name="Rounded Rectangle 3"/>
          <p:cNvSpPr/>
          <p:nvPr/>
        </p:nvSpPr>
        <p:spPr>
          <a:xfrm>
            <a:off x="685800" y="146304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37360"/>
            <a:ext cx="1995678"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Not in Linux yet</a:t>
            </a:r>
          </a:p>
        </p:txBody>
      </p:sp>
      <p:sp>
        <p:nvSpPr>
          <p:cNvPr id="6" name="TextBox 5"/>
          <p:cNvSpPr txBox="1"/>
          <p:nvPr/>
        </p:nvSpPr>
        <p:spPr>
          <a:xfrm>
            <a:off x="960120" y="2560320"/>
            <a:ext cx="1949957" cy="896112"/>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Out-of-tree module tied to kernel versions; upstreaming in stages since 2024.</a:t>
            </a:r>
          </a:p>
        </p:txBody>
      </p:sp>
      <p:sp>
        <p:nvSpPr>
          <p:cNvPr id="7" name="Rounded Rectangle 6"/>
          <p:cNvSpPr/>
          <p:nvPr/>
        </p:nvSpPr>
        <p:spPr>
          <a:xfrm>
            <a:off x="3458718" y="146304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33037" y="1737360"/>
            <a:ext cx="1995678"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Apps must change</a:t>
            </a:r>
          </a:p>
        </p:txBody>
      </p:sp>
      <p:sp>
        <p:nvSpPr>
          <p:cNvPr id="9" name="TextBox 8"/>
          <p:cNvSpPr txBox="1"/>
          <p:nvPr/>
        </p:nvSpPr>
        <p:spPr>
          <a:xfrm>
            <a:off x="3733037" y="2560320"/>
            <a:ext cx="1949957" cy="896112"/>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Message API, mapped receive buffers, 1 MB limit. Not a drop-in for TCP.</a:t>
            </a:r>
          </a:p>
        </p:txBody>
      </p:sp>
      <p:sp>
        <p:nvSpPr>
          <p:cNvPr id="10" name="Rounded Rectangle 9"/>
          <p:cNvSpPr/>
          <p:nvPr/>
        </p:nvSpPr>
        <p:spPr>
          <a:xfrm>
            <a:off x="6231636" y="146304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5955" y="1737360"/>
            <a:ext cx="1995678"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Datacenter only</a:t>
            </a:r>
          </a:p>
        </p:txBody>
      </p:sp>
      <p:sp>
        <p:nvSpPr>
          <p:cNvPr id="12" name="TextBox 11"/>
          <p:cNvSpPr txBox="1"/>
          <p:nvPr/>
        </p:nvSpPr>
        <p:spPr>
          <a:xfrm>
            <a:off x="6505955" y="2560320"/>
            <a:ext cx="1949957" cy="896112"/>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No encryption; NAT, firewalls and load balancers don't know protocol 146.</a:t>
            </a:r>
          </a:p>
        </p:txBody>
      </p:sp>
      <p:sp>
        <p:nvSpPr>
          <p:cNvPr id="13" name="Rounded Rectangle 12"/>
          <p:cNvSpPr/>
          <p:nvPr/>
        </p:nvSpPr>
        <p:spPr>
          <a:xfrm>
            <a:off x="9004554" y="146304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78874" y="1737360"/>
            <a:ext cx="1995677"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Needs switch config</a:t>
            </a:r>
          </a:p>
        </p:txBody>
      </p:sp>
      <p:sp>
        <p:nvSpPr>
          <p:cNvPr id="15" name="TextBox 14"/>
          <p:cNvSpPr txBox="1"/>
          <p:nvPr/>
        </p:nvSpPr>
        <p:spPr>
          <a:xfrm>
            <a:off x="9278874" y="2560320"/>
            <a:ext cx="1949957" cy="896112"/>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Without priority queues much of the benefit is gone.</a:t>
            </a:r>
          </a:p>
        </p:txBody>
      </p:sp>
      <p:sp>
        <p:nvSpPr>
          <p:cNvPr id="16" name="Rounded Rectangle 15"/>
          <p:cNvSpPr/>
          <p:nvPr/>
        </p:nvSpPr>
        <p:spPr>
          <a:xfrm>
            <a:off x="685800" y="388620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160520"/>
            <a:ext cx="1995678"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Offloads are for TCP</a:t>
            </a:r>
          </a:p>
        </p:txBody>
      </p:sp>
      <p:sp>
        <p:nvSpPr>
          <p:cNvPr id="18" name="TextBox 17"/>
          <p:cNvSpPr txBox="1"/>
          <p:nvPr/>
        </p:nvSpPr>
        <p:spPr>
          <a:xfrm>
            <a:off x="960120" y="4983480"/>
            <a:ext cx="1949957" cy="896111"/>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NICs don't segment Homa; TCP was faster for big transfers here.</a:t>
            </a:r>
          </a:p>
        </p:txBody>
      </p:sp>
      <p:sp>
        <p:nvSpPr>
          <p:cNvPr id="19" name="Rounded Rectangle 18"/>
          <p:cNvSpPr/>
          <p:nvPr/>
        </p:nvSpPr>
        <p:spPr>
          <a:xfrm>
            <a:off x="3458718" y="388620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33037" y="4160520"/>
            <a:ext cx="1995678"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Big messages can starve</a:t>
            </a:r>
          </a:p>
        </p:txBody>
      </p:sp>
      <p:sp>
        <p:nvSpPr>
          <p:cNvPr id="21" name="TextBox 20"/>
          <p:cNvSpPr txBox="1"/>
          <p:nvPr/>
        </p:nvSpPr>
        <p:spPr>
          <a:xfrm>
            <a:off x="3733037" y="4983480"/>
            <a:ext cx="1949957" cy="896111"/>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Shortest-first favours small ones; the FIFO-share knob is off by default.</a:t>
            </a:r>
          </a:p>
        </p:txBody>
      </p:sp>
      <p:sp>
        <p:nvSpPr>
          <p:cNvPr id="22" name="Rounded Rectangle 21"/>
          <p:cNvSpPr/>
          <p:nvPr/>
        </p:nvSpPr>
        <p:spPr>
          <a:xfrm>
            <a:off x="6231636" y="388620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5955" y="4160520"/>
            <a:ext cx="1995678"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Tuned for 25–100 Gbit/s</a:t>
            </a:r>
          </a:p>
        </p:txBody>
      </p:sp>
      <p:sp>
        <p:nvSpPr>
          <p:cNvPr id="24" name="TextBox 23"/>
          <p:cNvSpPr txBox="1"/>
          <p:nvPr/>
        </p:nvSpPr>
        <p:spPr>
          <a:xfrm>
            <a:off x="6505955" y="4983480"/>
            <a:ext cx="1949957" cy="896111"/>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Default timers misfired on this lab's 1 Gbit/s links.</a:t>
            </a:r>
          </a:p>
        </p:txBody>
      </p:sp>
      <p:sp>
        <p:nvSpPr>
          <p:cNvPr id="25" name="Rounded Rectangle 24"/>
          <p:cNvSpPr/>
          <p:nvPr/>
        </p:nvSpPr>
        <p:spPr>
          <a:xfrm>
            <a:off x="9004554" y="3886200"/>
            <a:ext cx="2498598" cy="21488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8874" y="4160520"/>
            <a:ext cx="1995677"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A young ecosystem</a:t>
            </a:r>
          </a:p>
        </p:txBody>
      </p:sp>
      <p:sp>
        <p:nvSpPr>
          <p:cNvPr id="27" name="TextBox 26"/>
          <p:cNvSpPr txBox="1"/>
          <p:nvPr/>
        </p:nvSpPr>
        <p:spPr>
          <a:xfrm>
            <a:off x="9278874" y="4983480"/>
            <a:ext cx="1949957" cy="896111"/>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Few tools and few deployments; even its dissector was stale.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TCP or Homa?</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Homa fits RPC-heavy services inside one datacenter you control</a:t>
            </a:r>
          </a:p>
        </p:txBody>
      </p:sp>
      <p:graphicFrame>
        <p:nvGraphicFramePr>
          <p:cNvPr id="5" name="Table 4"/>
          <p:cNvGraphicFramePr>
            <a:graphicFrameLocks noGrp="1"/>
          </p:cNvGraphicFramePr>
          <p:nvPr/>
        </p:nvGraphicFramePr>
        <p:xfrm>
          <a:off x="685800" y="1783080"/>
          <a:ext cx="10817350" cy="4279392"/>
        </p:xfrm>
        <a:graphic>
          <a:graphicData uri="http://schemas.openxmlformats.org/drawingml/2006/table">
            <a:tbl>
              <a:tblPr firstRow="1" bandRow="1">
                <a:tableStyleId>{5C22544A-7EE6-4342-B048-85BDC9FD1C3A}</a:tableStyleId>
              </a:tblPr>
              <a:tblGrid>
                <a:gridCol w="3452346"/>
                <a:gridCol w="3682502"/>
                <a:gridCol w="3682502"/>
              </a:tblGrid>
              <a:tr h="475488">
                <a:tc>
                  <a:txBody>
                    <a:bodyPr/>
                    <a:lstStyle/>
                    <a:p>
                      <a:r>
                        <a:rPr sz="1600" b="1">
                          <a:solidFill>
                            <a:srgbClr val="FFFFFF"/>
                          </a:solidFill>
                          <a:latin typeface="Calibri"/>
                        </a:rPr>
                        <a:t/>
                      </a:r>
                    </a:p>
                  </a:txBody>
                  <a:tcPr marL="91440" marR="91440" marT="36576" marB="36576" anchor="ctr">
                    <a:solidFill>
                      <a:srgbClr val="15294A"/>
                    </a:solidFill>
                  </a:tcPr>
                </a:tc>
                <a:tc>
                  <a:txBody>
                    <a:bodyPr/>
                    <a:lstStyle/>
                    <a:p>
                      <a:r>
                        <a:rPr sz="1600" b="1">
                          <a:solidFill>
                            <a:srgbClr val="FFFFFF"/>
                          </a:solidFill>
                          <a:latin typeface="Calibri"/>
                        </a:rPr>
                        <a:t>TCP</a:t>
                      </a:r>
                    </a:p>
                  </a:txBody>
                  <a:tcPr marL="91440" marR="91440" marT="36576" marB="36576" anchor="ctr">
                    <a:solidFill>
                      <a:srgbClr val="15294A"/>
                    </a:solidFill>
                  </a:tcPr>
                </a:tc>
                <a:tc>
                  <a:txBody>
                    <a:bodyPr/>
                    <a:lstStyle/>
                    <a:p>
                      <a:r>
                        <a:rPr sz="1600" b="1">
                          <a:solidFill>
                            <a:srgbClr val="FFFFFF"/>
                          </a:solidFill>
                          <a:latin typeface="Calibri"/>
                        </a:rPr>
                        <a:t>Homa</a:t>
                      </a:r>
                    </a:p>
                  </a:txBody>
                  <a:tcPr marL="91440" marR="91440" marT="36576" marB="36576" anchor="ctr">
                    <a:solidFill>
                      <a:srgbClr val="15294A"/>
                    </a:solidFill>
                  </a:tcPr>
                </a:tc>
              </a:tr>
              <a:tr h="475488">
                <a:tc>
                  <a:txBody>
                    <a:bodyPr/>
                    <a:lstStyle/>
                    <a:p>
                      <a:r>
                        <a:rPr sz="1600" b="1">
                          <a:solidFill>
                            <a:srgbClr val="1F2937"/>
                          </a:solidFill>
                          <a:latin typeface="Calibri"/>
                        </a:rPr>
                        <a:t>Unit of data</a:t>
                      </a:r>
                    </a:p>
                  </a:txBody>
                  <a:tcPr marL="91440" marR="91440" marT="36576" marB="36576" anchor="ctr">
                    <a:solidFill>
                      <a:srgbClr val="FFFFFF"/>
                    </a:solidFill>
                  </a:tcPr>
                </a:tc>
                <a:tc>
                  <a:txBody>
                    <a:bodyPr/>
                    <a:lstStyle/>
                    <a:p>
                      <a:r>
                        <a:rPr sz="1600" b="0">
                          <a:solidFill>
                            <a:srgbClr val="1F2937"/>
                          </a:solidFill>
                          <a:latin typeface="Calibri"/>
                        </a:rPr>
                        <a:t>a byte stream</a:t>
                      </a:r>
                    </a:p>
                  </a:txBody>
                  <a:tcPr marL="91440" marR="91440" marT="36576" marB="36576" anchor="ctr">
                    <a:solidFill>
                      <a:srgbClr val="FFFFFF"/>
                    </a:solidFill>
                  </a:tcPr>
                </a:tc>
                <a:tc>
                  <a:txBody>
                    <a:bodyPr/>
                    <a:lstStyle/>
                    <a:p>
                      <a:r>
                        <a:rPr sz="1600" b="0">
                          <a:solidFill>
                            <a:srgbClr val="1F2937"/>
                          </a:solidFill>
                          <a:latin typeface="Calibri"/>
                        </a:rPr>
                        <a:t>a message (≤ 1 MB)</a:t>
                      </a:r>
                    </a:p>
                  </a:txBody>
                  <a:tcPr marL="91440" marR="91440" marT="36576" marB="36576" anchor="ctr">
                    <a:solidFill>
                      <a:srgbClr val="FFFFFF"/>
                    </a:solidFill>
                  </a:tcPr>
                </a:tc>
              </a:tr>
              <a:tr h="475488">
                <a:tc>
                  <a:txBody>
                    <a:bodyPr/>
                    <a:lstStyle/>
                    <a:p>
                      <a:r>
                        <a:rPr sz="1600" b="1">
                          <a:solidFill>
                            <a:srgbClr val="1F2937"/>
                          </a:solidFill>
                          <a:latin typeface="Calibri"/>
                        </a:rPr>
                        <a:t>Setup</a:t>
                      </a:r>
                    </a:p>
                  </a:txBody>
                  <a:tcPr marL="91440" marR="91440" marT="36576" marB="36576" anchor="ctr">
                    <a:solidFill>
                      <a:srgbClr val="EEF2F7"/>
                    </a:solidFill>
                  </a:tcPr>
                </a:tc>
                <a:tc>
                  <a:txBody>
                    <a:bodyPr/>
                    <a:lstStyle/>
                    <a:p>
                      <a:r>
                        <a:rPr sz="1600" b="0">
                          <a:solidFill>
                            <a:srgbClr val="1F2937"/>
                          </a:solidFill>
                          <a:latin typeface="Calibri"/>
                        </a:rPr>
                        <a:t>a connection per pair of machines</a:t>
                      </a:r>
                    </a:p>
                  </a:txBody>
                  <a:tcPr marL="91440" marR="91440" marT="36576" marB="36576" anchor="ctr">
                    <a:solidFill>
                      <a:srgbClr val="EEF2F7"/>
                    </a:solidFill>
                  </a:tcPr>
                </a:tc>
                <a:tc>
                  <a:txBody>
                    <a:bodyPr/>
                    <a:lstStyle/>
                    <a:p>
                      <a:r>
                        <a:rPr sz="1600" b="0">
                          <a:solidFill>
                            <a:srgbClr val="1F2937"/>
                          </a:solidFill>
                          <a:latin typeface="Calibri"/>
                        </a:rPr>
                        <a:t>none</a:t>
                      </a:r>
                    </a:p>
                  </a:txBody>
                  <a:tcPr marL="91440" marR="91440" marT="36576" marB="36576" anchor="ctr">
                    <a:solidFill>
                      <a:srgbClr val="EEF2F7"/>
                    </a:solidFill>
                  </a:tcPr>
                </a:tc>
              </a:tr>
              <a:tr h="475488">
                <a:tc>
                  <a:txBody>
                    <a:bodyPr/>
                    <a:lstStyle/>
                    <a:p>
                      <a:r>
                        <a:rPr sz="1600" b="1">
                          <a:solidFill>
                            <a:srgbClr val="1F2937"/>
                          </a:solidFill>
                          <a:latin typeface="Calibri"/>
                        </a:rPr>
                        <a:t>Who sets the pace</a:t>
                      </a:r>
                    </a:p>
                  </a:txBody>
                  <a:tcPr marL="91440" marR="91440" marT="36576" marB="36576" anchor="ctr">
                    <a:solidFill>
                      <a:srgbClr val="FFFFFF"/>
                    </a:solidFill>
                  </a:tcPr>
                </a:tc>
                <a:tc>
                  <a:txBody>
                    <a:bodyPr/>
                    <a:lstStyle/>
                    <a:p>
                      <a:r>
                        <a:rPr sz="1600" b="0">
                          <a:solidFill>
                            <a:srgbClr val="1F2937"/>
                          </a:solidFill>
                          <a:latin typeface="Calibri"/>
                        </a:rPr>
                        <a:t>each sender, probing until loss</a:t>
                      </a:r>
                    </a:p>
                  </a:txBody>
                  <a:tcPr marL="91440" marR="91440" marT="36576" marB="36576" anchor="ctr">
                    <a:solidFill>
                      <a:srgbClr val="FFFFFF"/>
                    </a:solidFill>
                  </a:tcPr>
                </a:tc>
                <a:tc>
                  <a:txBody>
                    <a:bodyPr/>
                    <a:lstStyle/>
                    <a:p>
                      <a:r>
                        <a:rPr sz="1600" b="0">
                          <a:solidFill>
                            <a:srgbClr val="1F2937"/>
                          </a:solidFill>
                          <a:latin typeface="Calibri"/>
                        </a:rPr>
                        <a:t>the receiver, with grants</a:t>
                      </a:r>
                    </a:p>
                  </a:txBody>
                  <a:tcPr marL="91440" marR="91440" marT="36576" marB="36576" anchor="ctr">
                    <a:solidFill>
                      <a:srgbClr val="FFFFFF"/>
                    </a:solidFill>
                  </a:tcPr>
                </a:tc>
              </a:tr>
              <a:tr h="475488">
                <a:tc>
                  <a:txBody>
                    <a:bodyPr/>
                    <a:lstStyle/>
                    <a:p>
                      <a:r>
                        <a:rPr sz="1600" b="1">
                          <a:solidFill>
                            <a:srgbClr val="1F2937"/>
                          </a:solidFill>
                          <a:latin typeface="Calibri"/>
                        </a:rPr>
                        <a:t>Switch priority queues</a:t>
                      </a:r>
                    </a:p>
                  </a:txBody>
                  <a:tcPr marL="91440" marR="91440" marT="36576" marB="36576" anchor="ctr">
                    <a:solidFill>
                      <a:srgbClr val="EEF2F7"/>
                    </a:solidFill>
                  </a:tcPr>
                </a:tc>
                <a:tc>
                  <a:txBody>
                    <a:bodyPr/>
                    <a:lstStyle/>
                    <a:p>
                      <a:r>
                        <a:rPr sz="1600" b="0">
                          <a:solidFill>
                            <a:srgbClr val="1F2937"/>
                          </a:solidFill>
                          <a:latin typeface="Calibri"/>
                        </a:rPr>
                        <a:t>not used</a:t>
                      </a:r>
                    </a:p>
                  </a:txBody>
                  <a:tcPr marL="91440" marR="91440" marT="36576" marB="36576" anchor="ctr">
                    <a:solidFill>
                      <a:srgbClr val="EEF2F7"/>
                    </a:solidFill>
                  </a:tcPr>
                </a:tc>
                <a:tc>
                  <a:txBody>
                    <a:bodyPr/>
                    <a:lstStyle/>
                    <a:p>
                      <a:r>
                        <a:rPr sz="1600" b="0">
                          <a:solidFill>
                            <a:srgbClr val="1F2937"/>
                          </a:solidFill>
                          <a:latin typeface="Calibri"/>
                        </a:rPr>
                        <a:t>essential</a:t>
                      </a:r>
                    </a:p>
                  </a:txBody>
                  <a:tcPr marL="91440" marR="91440" marT="36576" marB="36576" anchor="ctr">
                    <a:solidFill>
                      <a:srgbClr val="EEF2F7"/>
                    </a:solidFill>
                  </a:tcPr>
                </a:tc>
              </a:tr>
              <a:tr h="475488">
                <a:tc>
                  <a:txBody>
                    <a:bodyPr/>
                    <a:lstStyle/>
                    <a:p>
                      <a:r>
                        <a:rPr sz="1600" b="1">
                          <a:solidFill>
                            <a:srgbClr val="1F2937"/>
                          </a:solidFill>
                          <a:latin typeface="Calibri"/>
                        </a:rPr>
                        <a:t>Short messages under load</a:t>
                      </a:r>
                    </a:p>
                  </a:txBody>
                  <a:tcPr marL="91440" marR="91440" marT="36576" marB="36576" anchor="ctr">
                    <a:solidFill>
                      <a:srgbClr val="FFFFFF"/>
                    </a:solidFill>
                  </a:tcPr>
                </a:tc>
                <a:tc>
                  <a:txBody>
                    <a:bodyPr/>
                    <a:lstStyle/>
                    <a:p>
                      <a:r>
                        <a:rPr sz="1600" b="0">
                          <a:solidFill>
                            <a:srgbClr val="1F2937"/>
                          </a:solidFill>
                          <a:latin typeface="Calibri"/>
                        </a:rPr>
                        <a:t>wait behind big transfers</a:t>
                      </a:r>
                    </a:p>
                  </a:txBody>
                  <a:tcPr marL="91440" marR="91440" marT="36576" marB="36576" anchor="ctr">
                    <a:solidFill>
                      <a:srgbClr val="FFFFFF"/>
                    </a:solidFill>
                  </a:tcPr>
                </a:tc>
                <a:tc>
                  <a:txBody>
                    <a:bodyPr/>
                    <a:lstStyle/>
                    <a:p>
                      <a:r>
                        <a:rPr sz="1600" b="0">
                          <a:solidFill>
                            <a:srgbClr val="1F2937"/>
                          </a:solidFill>
                          <a:latin typeface="Calibri"/>
                        </a:rPr>
                        <a:t>overtake them</a:t>
                      </a:r>
                    </a:p>
                  </a:txBody>
                  <a:tcPr marL="91440" marR="91440" marT="36576" marB="36576" anchor="ctr">
                    <a:solidFill>
                      <a:srgbClr val="FFFFFF"/>
                    </a:solidFill>
                  </a:tcPr>
                </a:tc>
              </a:tr>
              <a:tr h="475488">
                <a:tc>
                  <a:txBody>
                    <a:bodyPr/>
                    <a:lstStyle/>
                    <a:p>
                      <a:r>
                        <a:rPr sz="1600" b="1">
                          <a:solidFill>
                            <a:srgbClr val="1F2937"/>
                          </a:solidFill>
                          <a:latin typeface="Calibri"/>
                        </a:rPr>
                        <a:t>Big transfers</a:t>
                      </a:r>
                    </a:p>
                  </a:txBody>
                  <a:tcPr marL="91440" marR="91440" marT="36576" marB="36576" anchor="ctr">
                    <a:solidFill>
                      <a:srgbClr val="EEF2F7"/>
                    </a:solidFill>
                  </a:tcPr>
                </a:tc>
                <a:tc>
                  <a:txBody>
                    <a:bodyPr/>
                    <a:lstStyle/>
                    <a:p>
                      <a:r>
                        <a:rPr sz="1600" b="0">
                          <a:solidFill>
                            <a:srgbClr val="1F2937"/>
                          </a:solidFill>
                          <a:latin typeface="Calibri"/>
                        </a:rPr>
                        <a:t>hardware offload, efficient</a:t>
                      </a:r>
                    </a:p>
                  </a:txBody>
                  <a:tcPr marL="91440" marR="91440" marT="36576" marB="36576" anchor="ctr">
                    <a:solidFill>
                      <a:srgbClr val="EEF2F7"/>
                    </a:solidFill>
                  </a:tcPr>
                </a:tc>
                <a:tc>
                  <a:txBody>
                    <a:bodyPr/>
                    <a:lstStyle/>
                    <a:p>
                      <a:r>
                        <a:rPr sz="1600" b="0">
                          <a:solidFill>
                            <a:srgbClr val="1F2937"/>
                          </a:solidFill>
                          <a:latin typeface="Calibri"/>
                        </a:rPr>
                        <a:t>no offload; can be starved</a:t>
                      </a:r>
                    </a:p>
                  </a:txBody>
                  <a:tcPr marL="91440" marR="91440" marT="36576" marB="36576" anchor="ctr">
                    <a:solidFill>
                      <a:srgbClr val="EEF2F7"/>
                    </a:solidFill>
                  </a:tcPr>
                </a:tc>
              </a:tr>
              <a:tr h="475488">
                <a:tc>
                  <a:txBody>
                    <a:bodyPr/>
                    <a:lstStyle/>
                    <a:p>
                      <a:r>
                        <a:rPr sz="1600" b="1">
                          <a:solidFill>
                            <a:srgbClr val="1F2937"/>
                          </a:solidFill>
                          <a:latin typeface="Calibri"/>
                        </a:rPr>
                        <a:t>Where it works</a:t>
                      </a:r>
                    </a:p>
                  </a:txBody>
                  <a:tcPr marL="91440" marR="91440" marT="36576" marB="36576" anchor="ctr">
                    <a:solidFill>
                      <a:srgbClr val="FFFFFF"/>
                    </a:solidFill>
                  </a:tcPr>
                </a:tc>
                <a:tc>
                  <a:txBody>
                    <a:bodyPr/>
                    <a:lstStyle/>
                    <a:p>
                      <a:r>
                        <a:rPr sz="1600" b="0">
                          <a:solidFill>
                            <a:srgbClr val="1F2937"/>
                          </a:solidFill>
                          <a:latin typeface="Calibri"/>
                        </a:rPr>
                        <a:t>everywhere</a:t>
                      </a:r>
                    </a:p>
                  </a:txBody>
                  <a:tcPr marL="91440" marR="91440" marT="36576" marB="36576" anchor="ctr">
                    <a:solidFill>
                      <a:srgbClr val="FFFFFF"/>
                    </a:solidFill>
                  </a:tcPr>
                </a:tc>
                <a:tc>
                  <a:txBody>
                    <a:bodyPr/>
                    <a:lstStyle/>
                    <a:p>
                      <a:r>
                        <a:rPr sz="1600" b="0">
                          <a:solidFill>
                            <a:srgbClr val="1F2937"/>
                          </a:solidFill>
                          <a:latin typeface="Calibri"/>
                        </a:rPr>
                        <a:t>inside one datacenter network</a:t>
                      </a:r>
                    </a:p>
                  </a:txBody>
                  <a:tcPr marL="91440" marR="91440" marT="36576" marB="36576" anchor="ctr">
                    <a:solidFill>
                      <a:srgbClr val="FFFFFF"/>
                    </a:solidFill>
                  </a:tcPr>
                </a:tc>
              </a:tr>
              <a:tr h="475488">
                <a:tc>
                  <a:txBody>
                    <a:bodyPr/>
                    <a:lstStyle/>
                    <a:p>
                      <a:r>
                        <a:rPr sz="1600" b="1">
                          <a:solidFill>
                            <a:srgbClr val="1F2937"/>
                          </a:solidFill>
                          <a:latin typeface="Calibri"/>
                        </a:rPr>
                        <a:t>In Linux</a:t>
                      </a:r>
                    </a:p>
                  </a:txBody>
                  <a:tcPr marL="91440" marR="91440" marT="36576" marB="36576" anchor="ctr">
                    <a:solidFill>
                      <a:srgbClr val="EEF2F7"/>
                    </a:solidFill>
                  </a:tcPr>
                </a:tc>
                <a:tc>
                  <a:txBody>
                    <a:bodyPr/>
                    <a:lstStyle/>
                    <a:p>
                      <a:r>
                        <a:rPr sz="1600" b="0">
                          <a:solidFill>
                            <a:srgbClr val="1F2937"/>
                          </a:solidFill>
                          <a:latin typeface="Calibri"/>
                        </a:rPr>
                        <a:t>since the beginning</a:t>
                      </a:r>
                    </a:p>
                  </a:txBody>
                  <a:tcPr marL="91440" marR="91440" marT="36576" marB="36576" anchor="ctr">
                    <a:solidFill>
                      <a:srgbClr val="EEF2F7"/>
                    </a:solidFill>
                  </a:tcPr>
                </a:tc>
                <a:tc>
                  <a:txBody>
                    <a:bodyPr/>
                    <a:lstStyle/>
                    <a:p>
                      <a:r>
                        <a:rPr sz="1600" b="0">
                          <a:solidFill>
                            <a:srgbClr val="1F2937"/>
                          </a:solidFill>
                          <a:latin typeface="Calibri"/>
                        </a:rPr>
                        <a:t>out-of-tree; upstreaming in progress</a:t>
                      </a:r>
                    </a:p>
                  </a:txBody>
                  <a:tcPr marL="91440" marR="91440" marT="36576" marB="36576" anchor="ctr">
                    <a:solidFill>
                      <a:srgbClr val="EEF2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9601200" cy="411480"/>
          </a:xfrm>
          <a:prstGeom prst="rect">
            <a:avLst/>
          </a:prstGeom>
          <a:noFill/>
        </p:spPr>
        <p:txBody>
          <a:bodyPr wrap="square" lIns="0" rIns="0" tIns="0" bIns="0" anchor="t">
            <a:spAutoFit/>
          </a:bodyPr>
          <a:lstStyle/>
          <a:p>
            <a:pPr algn="l">
              <a:lnSpc>
                <a:spcPct val="115000"/>
              </a:lnSpc>
              <a:spcAft>
                <a:spcPts val="0"/>
              </a:spcAft>
            </a:pPr>
            <a:r>
              <a:rPr sz="1500" b="0" i="0">
                <a:solidFill>
                  <a:srgbClr val="8DB8EE"/>
                </a:solidFill>
                <a:latin typeface="Calibri"/>
              </a:rPr>
              <a:t>PART 2</a:t>
            </a:r>
          </a:p>
        </p:txBody>
      </p:sp>
      <p:sp>
        <p:nvSpPr>
          <p:cNvPr id="4" name="TextBox 3"/>
          <p:cNvSpPr txBox="1"/>
          <p:nvPr/>
        </p:nvSpPr>
        <p:spPr>
          <a:xfrm>
            <a:off x="1005840" y="2606040"/>
            <a:ext cx="9875520" cy="1005840"/>
          </a:xfrm>
          <a:prstGeom prst="rect">
            <a:avLst/>
          </a:prstGeom>
          <a:noFill/>
        </p:spPr>
        <p:txBody>
          <a:bodyPr wrap="square" lIns="0" rIns="0" tIns="0" bIns="0" anchor="t">
            <a:spAutoFit/>
          </a:bodyPr>
          <a:lstStyle/>
          <a:p>
            <a:pPr algn="l">
              <a:lnSpc>
                <a:spcPct val="100000"/>
              </a:lnSpc>
              <a:spcAft>
                <a:spcPts val="0"/>
              </a:spcAft>
            </a:pPr>
            <a:r>
              <a:rPr sz="4400" b="0" i="0">
                <a:solidFill>
                  <a:srgbClr val="FFFFFF"/>
                </a:solidFill>
                <a:latin typeface="Cambria"/>
              </a:rPr>
              <a:t>The lab</a:t>
            </a:r>
          </a:p>
        </p:txBody>
      </p:sp>
      <p:sp>
        <p:nvSpPr>
          <p:cNvPr id="5" name="TextBox 4"/>
          <p:cNvSpPr txBox="1"/>
          <p:nvPr/>
        </p:nvSpPr>
        <p:spPr>
          <a:xfrm>
            <a:off x="1005840" y="3840480"/>
            <a:ext cx="9875520" cy="1645920"/>
          </a:xfrm>
          <a:prstGeom prst="rect">
            <a:avLst/>
          </a:prstGeom>
          <a:noFill/>
        </p:spPr>
        <p:txBody>
          <a:bodyPr wrap="square" lIns="0" rIns="0" tIns="0" bIns="0" anchor="t">
            <a:spAutoFit/>
          </a:bodyPr>
          <a:lstStyle/>
          <a:p>
            <a:pPr algn="l">
              <a:lnSpc>
                <a:spcPct val="135000"/>
              </a:lnSpc>
              <a:spcAft>
                <a:spcPts val="0"/>
              </a:spcAft>
            </a:pPr>
            <a:r>
              <a:rPr sz="1700" b="0" i="0">
                <a:solidFill>
                  <a:srgbClr val="C3D3EA"/>
                </a:solidFill>
                <a:latin typeface="Calibri"/>
              </a:rPr>
              <a:t>Four hosts, one switch with priority queues, a pinned build, and the tools to watch it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Four hosts, one switch that matters</a:t>
            </a:r>
          </a:p>
        </p:txBody>
      </p:sp>
      <p:cxnSp>
        <p:nvCxnSpPr>
          <p:cNvPr id="4" name="Connector 3"/>
          <p:cNvCxnSpPr/>
          <p:nvPr/>
        </p:nvCxnSpPr>
        <p:spPr>
          <a:xfrm>
            <a:off x="1600200" y="2103120"/>
            <a:ext cx="2377439" cy="1417319"/>
          </a:xfrm>
          <a:prstGeom prst="line">
            <a:avLst/>
          </a:prstGeom>
          <a:ln w="31750">
            <a:solidFill>
              <a:srgbClr val="2A78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600200" y="3520439"/>
            <a:ext cx="2377439" cy="1143001"/>
          </a:xfrm>
          <a:prstGeom prst="line">
            <a:avLst/>
          </a:prstGeom>
          <a:ln w="31750">
            <a:solidFill>
              <a:srgbClr val="2A78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3977639" y="2103120"/>
            <a:ext cx="2377441" cy="1417319"/>
          </a:xfrm>
          <a:prstGeom prst="line">
            <a:avLst/>
          </a:prstGeom>
          <a:ln w="31750">
            <a:solidFill>
              <a:srgbClr val="2A78D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3977639" y="3520439"/>
            <a:ext cx="2377441" cy="1143001"/>
          </a:xfrm>
          <a:prstGeom prst="line">
            <a:avLst/>
          </a:prstGeom>
          <a:ln w="31750">
            <a:solidFill>
              <a:srgbClr val="2A78D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1600200"/>
            <a:ext cx="1828800" cy="1005840"/>
          </a:xfrm>
          <a:prstGeom prst="roundRect">
            <a:avLst>
              <a:gd name="adj" fmla="val 6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37360"/>
            <a:ext cx="1828800"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0B1A2E"/>
                </a:solidFill>
                <a:latin typeface="Calibri"/>
              </a:rPr>
              <a:t>h1</a:t>
            </a:r>
          </a:p>
        </p:txBody>
      </p:sp>
      <p:sp>
        <p:nvSpPr>
          <p:cNvPr id="10" name="TextBox 9"/>
          <p:cNvSpPr txBox="1"/>
          <p:nvPr/>
        </p:nvSpPr>
        <p:spPr>
          <a:xfrm>
            <a:off x="685800" y="2148840"/>
            <a:ext cx="1828800" cy="320040"/>
          </a:xfrm>
          <a:prstGeom prst="rect">
            <a:avLst/>
          </a:prstGeom>
          <a:noFill/>
        </p:spPr>
        <p:txBody>
          <a:bodyPr wrap="square" lIns="0" rIns="0" tIns="0" bIns="0" anchor="t">
            <a:spAutoFit/>
          </a:bodyPr>
          <a:lstStyle/>
          <a:p>
            <a:pPr algn="ctr">
              <a:lnSpc>
                <a:spcPct val="115000"/>
              </a:lnSpc>
              <a:spcAft>
                <a:spcPts val="0"/>
              </a:spcAft>
            </a:pPr>
            <a:r>
              <a:rPr sz="1300" b="0" i="0">
                <a:solidFill>
                  <a:srgbClr val="5B6676"/>
                </a:solidFill>
                <a:latin typeface="Courier New"/>
              </a:rPr>
              <a:t>192.168.80.11</a:t>
            </a:r>
          </a:p>
        </p:txBody>
      </p:sp>
      <p:sp>
        <p:nvSpPr>
          <p:cNvPr id="11" name="Rounded Rectangle 10"/>
          <p:cNvSpPr/>
          <p:nvPr/>
        </p:nvSpPr>
        <p:spPr>
          <a:xfrm>
            <a:off x="685800" y="4160520"/>
            <a:ext cx="1828800" cy="1005840"/>
          </a:xfrm>
          <a:prstGeom prst="roundRect">
            <a:avLst>
              <a:gd name="adj" fmla="val 6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297680"/>
            <a:ext cx="1828800"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0B1A2E"/>
                </a:solidFill>
                <a:latin typeface="Calibri"/>
              </a:rPr>
              <a:t>h2</a:t>
            </a:r>
          </a:p>
        </p:txBody>
      </p:sp>
      <p:sp>
        <p:nvSpPr>
          <p:cNvPr id="13" name="TextBox 12"/>
          <p:cNvSpPr txBox="1"/>
          <p:nvPr/>
        </p:nvSpPr>
        <p:spPr>
          <a:xfrm>
            <a:off x="685800" y="4709159"/>
            <a:ext cx="1828800" cy="320040"/>
          </a:xfrm>
          <a:prstGeom prst="rect">
            <a:avLst/>
          </a:prstGeom>
          <a:noFill/>
        </p:spPr>
        <p:txBody>
          <a:bodyPr wrap="square" lIns="0" rIns="0" tIns="0" bIns="0" anchor="t">
            <a:spAutoFit/>
          </a:bodyPr>
          <a:lstStyle/>
          <a:p>
            <a:pPr algn="ctr">
              <a:lnSpc>
                <a:spcPct val="115000"/>
              </a:lnSpc>
              <a:spcAft>
                <a:spcPts val="0"/>
              </a:spcAft>
            </a:pPr>
            <a:r>
              <a:rPr sz="1300" b="0" i="0">
                <a:solidFill>
                  <a:srgbClr val="5B6676"/>
                </a:solidFill>
                <a:latin typeface="Courier New"/>
              </a:rPr>
              <a:t>192.168.80.12</a:t>
            </a:r>
          </a:p>
        </p:txBody>
      </p:sp>
      <p:sp>
        <p:nvSpPr>
          <p:cNvPr id="14" name="Rounded Rectangle 13"/>
          <p:cNvSpPr/>
          <p:nvPr/>
        </p:nvSpPr>
        <p:spPr>
          <a:xfrm>
            <a:off x="5440680" y="1600200"/>
            <a:ext cx="1828800" cy="1005840"/>
          </a:xfrm>
          <a:prstGeom prst="roundRect">
            <a:avLst>
              <a:gd name="adj" fmla="val 6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1737360"/>
            <a:ext cx="1828800"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0B1A2E"/>
                </a:solidFill>
                <a:latin typeface="Calibri"/>
              </a:rPr>
              <a:t>h3</a:t>
            </a:r>
          </a:p>
        </p:txBody>
      </p:sp>
      <p:sp>
        <p:nvSpPr>
          <p:cNvPr id="16" name="TextBox 15"/>
          <p:cNvSpPr txBox="1"/>
          <p:nvPr/>
        </p:nvSpPr>
        <p:spPr>
          <a:xfrm>
            <a:off x="5440680" y="2148840"/>
            <a:ext cx="1828800" cy="320040"/>
          </a:xfrm>
          <a:prstGeom prst="rect">
            <a:avLst/>
          </a:prstGeom>
          <a:noFill/>
        </p:spPr>
        <p:txBody>
          <a:bodyPr wrap="square" lIns="0" rIns="0" tIns="0" bIns="0" anchor="t">
            <a:spAutoFit/>
          </a:bodyPr>
          <a:lstStyle/>
          <a:p>
            <a:pPr algn="ctr">
              <a:lnSpc>
                <a:spcPct val="115000"/>
              </a:lnSpc>
              <a:spcAft>
                <a:spcPts val="0"/>
              </a:spcAft>
            </a:pPr>
            <a:r>
              <a:rPr sz="1300" b="0" i="0">
                <a:solidFill>
                  <a:srgbClr val="5B6676"/>
                </a:solidFill>
                <a:latin typeface="Courier New"/>
              </a:rPr>
              <a:t>192.168.80.13</a:t>
            </a:r>
          </a:p>
        </p:txBody>
      </p:sp>
      <p:sp>
        <p:nvSpPr>
          <p:cNvPr id="17" name="Rounded Rectangle 16"/>
          <p:cNvSpPr/>
          <p:nvPr/>
        </p:nvSpPr>
        <p:spPr>
          <a:xfrm>
            <a:off x="5440680" y="4160520"/>
            <a:ext cx="1828800" cy="1005840"/>
          </a:xfrm>
          <a:prstGeom prst="roundRect">
            <a:avLst>
              <a:gd name="adj" fmla="val 6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4297680"/>
            <a:ext cx="1828800" cy="365760"/>
          </a:xfrm>
          <a:prstGeom prst="rect">
            <a:avLst/>
          </a:prstGeom>
          <a:noFill/>
        </p:spPr>
        <p:txBody>
          <a:bodyPr wrap="square" lIns="0" rIns="0" tIns="0" bIns="0" anchor="t">
            <a:spAutoFit/>
          </a:bodyPr>
          <a:lstStyle/>
          <a:p>
            <a:pPr algn="ctr">
              <a:lnSpc>
                <a:spcPct val="115000"/>
              </a:lnSpc>
              <a:spcAft>
                <a:spcPts val="0"/>
              </a:spcAft>
            </a:pPr>
            <a:r>
              <a:rPr sz="1800" b="0" i="0">
                <a:solidFill>
                  <a:srgbClr val="0B1A2E"/>
                </a:solidFill>
                <a:latin typeface="Calibri"/>
              </a:rPr>
              <a:t>h4</a:t>
            </a:r>
          </a:p>
        </p:txBody>
      </p:sp>
      <p:sp>
        <p:nvSpPr>
          <p:cNvPr id="19" name="TextBox 18"/>
          <p:cNvSpPr txBox="1"/>
          <p:nvPr/>
        </p:nvSpPr>
        <p:spPr>
          <a:xfrm>
            <a:off x="5440680" y="4709159"/>
            <a:ext cx="1828800" cy="320040"/>
          </a:xfrm>
          <a:prstGeom prst="rect">
            <a:avLst/>
          </a:prstGeom>
          <a:noFill/>
        </p:spPr>
        <p:txBody>
          <a:bodyPr wrap="square" lIns="0" rIns="0" tIns="0" bIns="0" anchor="t">
            <a:spAutoFit/>
          </a:bodyPr>
          <a:lstStyle/>
          <a:p>
            <a:pPr algn="ctr">
              <a:lnSpc>
                <a:spcPct val="115000"/>
              </a:lnSpc>
              <a:spcAft>
                <a:spcPts val="0"/>
              </a:spcAft>
            </a:pPr>
            <a:r>
              <a:rPr sz="1300" b="0" i="0">
                <a:solidFill>
                  <a:srgbClr val="5B6676"/>
                </a:solidFill>
                <a:latin typeface="Courier New"/>
              </a:rPr>
              <a:t>192.168.80.14</a:t>
            </a:r>
          </a:p>
        </p:txBody>
      </p:sp>
      <p:sp>
        <p:nvSpPr>
          <p:cNvPr id="20" name="Rounded Rectangle 19"/>
          <p:cNvSpPr/>
          <p:nvPr/>
        </p:nvSpPr>
        <p:spPr>
          <a:xfrm>
            <a:off x="2971800" y="2788920"/>
            <a:ext cx="2011680" cy="1463040"/>
          </a:xfrm>
          <a:prstGeom prst="roundRect">
            <a:avLst>
              <a:gd name="adj" fmla="val 5454"/>
            </a:avLst>
          </a:prstGeom>
          <a:solidFill>
            <a:srgbClr val="E3EEFB"/>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2971800"/>
            <a:ext cx="2011680" cy="1188720"/>
          </a:xfrm>
          <a:prstGeom prst="rect">
            <a:avLst/>
          </a:prstGeom>
          <a:noFill/>
        </p:spPr>
        <p:txBody>
          <a:bodyPr wrap="square" lIns="0" rIns="0" tIns="0" bIns="0" anchor="t">
            <a:spAutoFit/>
          </a:bodyPr>
          <a:lstStyle/>
          <a:p>
            <a:pPr algn="ctr">
              <a:lnSpc>
                <a:spcPct val="120000"/>
              </a:lnSpc>
              <a:spcAft>
                <a:spcPts val="400"/>
              </a:spcAft>
            </a:pPr>
            <a:r>
              <a:rPr sz="1900" b="1" i="0">
                <a:solidFill>
                  <a:srgbClr val="0B1A2E"/>
                </a:solidFill>
                <a:latin typeface="Calibri"/>
              </a:rPr>
              <a:t>sw1</a:t>
            </a:r>
          </a:p>
          <a:p>
            <a:pPr algn="ctr">
              <a:lnSpc>
                <a:spcPct val="120000"/>
              </a:lnSpc>
              <a:spcAft>
                <a:spcPts val="0"/>
              </a:spcAft>
            </a:pPr>
            <a:r>
              <a:rPr sz="1400" b="0" i="0">
                <a:solidFill>
                  <a:srgbClr val="1F2937"/>
                </a:solidFill>
                <a:latin typeface="Calibri"/>
              </a:rPr>
              <a:t>Linux bridge</a:t>
            </a:r>
          </a:p>
          <a:p>
            <a:pPr algn="ctr">
              <a:lnSpc>
                <a:spcPct val="120000"/>
              </a:lnSpc>
              <a:spcAft>
                <a:spcPts val="0"/>
              </a:spcAft>
            </a:pPr>
            <a:r>
              <a:rPr sz="1400" b="0" i="0">
                <a:solidFill>
                  <a:srgbClr val="1F2937"/>
                </a:solidFill>
                <a:latin typeface="Calibri"/>
              </a:rPr>
              <a:t>1 Gbit/s · 8 queues</a:t>
            </a:r>
          </a:p>
        </p:txBody>
      </p:sp>
      <p:sp>
        <p:nvSpPr>
          <p:cNvPr id="22" name="Rounded Rectangle 21"/>
          <p:cNvSpPr/>
          <p:nvPr/>
        </p:nvSpPr>
        <p:spPr>
          <a:xfrm>
            <a:off x="7726679" y="1600200"/>
            <a:ext cx="3776472" cy="3566160"/>
          </a:xfrm>
          <a:prstGeom prst="roundRect">
            <a:avLst>
              <a:gd name="adj" fmla="val 29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82711" y="1828800"/>
            <a:ext cx="3264408" cy="3108960"/>
          </a:xfrm>
          <a:prstGeom prst="rect">
            <a:avLst/>
          </a:prstGeom>
          <a:noFill/>
        </p:spPr>
        <p:txBody>
          <a:bodyPr wrap="square" lIns="0" rIns="0" tIns="0" bIns="0" anchor="t">
            <a:spAutoFit/>
          </a:bodyPr>
          <a:lstStyle/>
          <a:p>
            <a:pPr algn="l">
              <a:lnSpc>
                <a:spcPct val="130000"/>
              </a:lnSpc>
              <a:spcAft>
                <a:spcPts val="1000"/>
              </a:spcAft>
            </a:pPr>
            <a:r>
              <a:rPr sz="1700" b="1" i="0">
                <a:solidFill>
                  <a:srgbClr val="0B1A2E"/>
                </a:solidFill>
                <a:latin typeface="Calibri"/>
              </a:rPr>
              <a:t>What runs where</a:t>
            </a:r>
          </a:p>
          <a:p>
            <a:pPr algn="l">
              <a:lnSpc>
                <a:spcPct val="130000"/>
              </a:lnSpc>
              <a:spcAft>
                <a:spcPts val="900"/>
              </a:spcAft>
            </a:pPr>
            <a:r>
              <a:rPr sz="1500" b="0" i="0">
                <a:solidFill>
                  <a:srgbClr val="1F2937"/>
                </a:solidFill>
                <a:latin typeface="Calibri"/>
              </a:rPr>
              <a:t>Kernel 6.17.8, homa.ko, homa_prio and test servers on every host.</a:t>
            </a:r>
          </a:p>
          <a:p>
            <a:pPr algn="l">
              <a:lnSpc>
                <a:spcPct val="130000"/>
              </a:lnSpc>
              <a:spcAft>
                <a:spcPts val="900"/>
              </a:spcAft>
            </a:pPr>
            <a:r>
              <a:rPr sz="1500" b="0" i="0">
                <a:solidFill>
                  <a:srgbClr val="1F2937"/>
                </a:solidFill>
                <a:latin typeface="Calibri"/>
              </a:rPr>
              <a:t>Each link is an isolated libvirt bridge, MTU 9000.</a:t>
            </a:r>
          </a:p>
          <a:p>
            <a:pPr algn="l">
              <a:lnSpc>
                <a:spcPct val="130000"/>
              </a:lnSpc>
              <a:spcAft>
                <a:spcPts val="900"/>
              </a:spcAft>
            </a:pPr>
            <a:r>
              <a:rPr sz="1500" b="0" i="0">
                <a:solidFill>
                  <a:srgbClr val="1F2937"/>
                </a:solidFill>
                <a:latin typeface="Calibri"/>
              </a:rPr>
              <a:t>sw1 queues traffic on the way to each host — the receiver's downlink, where incast hits.</a:t>
            </a:r>
          </a:p>
          <a:p>
            <a:pPr algn="l">
              <a:lnSpc>
                <a:spcPct val="130000"/>
              </a:lnSpc>
              <a:spcAft>
                <a:spcPts val="0"/>
              </a:spcAft>
            </a:pPr>
            <a:r>
              <a:rPr sz="1500" b="0" i="0">
                <a:solidFill>
                  <a:srgbClr val="1F2937"/>
                </a:solidFill>
                <a:latin typeface="Calibri"/>
              </a:rPr>
              <a:t>Hosts set link_mbps=1000 to match the bottleneck.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One command builds and tests the module</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./lab.sh image — about 10 minutes, then every VM is an overlay on the result</a:t>
            </a:r>
          </a:p>
        </p:txBody>
      </p:sp>
      <p:sp>
        <p:nvSpPr>
          <p:cNvPr id="5" name="Rounded Rectangle 4"/>
          <p:cNvSpPr/>
          <p:nvPr/>
        </p:nvSpPr>
        <p:spPr>
          <a:xfrm>
            <a:off x="685800" y="2148840"/>
            <a:ext cx="1980590" cy="2651760"/>
          </a:xfrm>
          <a:prstGeom prst="roundRect">
            <a:avLst>
              <a:gd name="adj" fmla="val 4137"/>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41832" y="23957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47802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1</a:t>
            </a:r>
          </a:p>
        </p:txBody>
      </p:sp>
      <p:sp>
        <p:nvSpPr>
          <p:cNvPr id="8" name="TextBox 7"/>
          <p:cNvSpPr txBox="1"/>
          <p:nvPr/>
        </p:nvSpPr>
        <p:spPr>
          <a:xfrm>
            <a:off x="1554480" y="2423160"/>
            <a:ext cx="883310"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Pin</a:t>
            </a:r>
          </a:p>
        </p:txBody>
      </p:sp>
      <p:sp>
        <p:nvSpPr>
          <p:cNvPr id="9" name="TextBox 8"/>
          <p:cNvSpPr txBox="1"/>
          <p:nvPr/>
        </p:nvSpPr>
        <p:spPr>
          <a:xfrm>
            <a:off x="960120" y="3246120"/>
            <a:ext cx="1431950" cy="1399032"/>
          </a:xfrm>
          <a:prstGeom prst="rect">
            <a:avLst/>
          </a:prstGeom>
          <a:noFill/>
        </p:spPr>
        <p:txBody>
          <a:bodyPr wrap="square" lIns="0" rIns="0" tIns="0" bIns="0" anchor="t">
            <a:spAutoFit/>
          </a:bodyPr>
          <a:lstStyle/>
          <a:p>
            <a:pPr algn="l">
              <a:lnSpc>
                <a:spcPct val="120000"/>
              </a:lnSpc>
              <a:spcAft>
                <a:spcPts val="0"/>
              </a:spcAft>
            </a:pPr>
            <a:r>
              <a:rPr sz="1500" b="0" i="0">
                <a:solidFill>
                  <a:srgbClr val="1F2937"/>
                </a:solidFill>
                <a:latin typeface="Calibri"/>
              </a:rPr>
              <a:t>Hold the kernel packages; no background upgrades.</a:t>
            </a:r>
          </a:p>
        </p:txBody>
      </p:sp>
      <p:sp>
        <p:nvSpPr>
          <p:cNvPr id="10" name="Rounded Rectangle 9"/>
          <p:cNvSpPr/>
          <p:nvPr/>
        </p:nvSpPr>
        <p:spPr>
          <a:xfrm>
            <a:off x="2894990" y="2148840"/>
            <a:ext cx="1980590" cy="2651760"/>
          </a:xfrm>
          <a:prstGeom prst="roundRect">
            <a:avLst>
              <a:gd name="adj" fmla="val 4137"/>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151022" y="23957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1022" y="247802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2</a:t>
            </a:r>
          </a:p>
        </p:txBody>
      </p:sp>
      <p:sp>
        <p:nvSpPr>
          <p:cNvPr id="13" name="TextBox 12"/>
          <p:cNvSpPr txBox="1"/>
          <p:nvPr/>
        </p:nvSpPr>
        <p:spPr>
          <a:xfrm>
            <a:off x="3763670" y="2423160"/>
            <a:ext cx="883310"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Kernel</a:t>
            </a:r>
          </a:p>
        </p:txBody>
      </p:sp>
      <p:sp>
        <p:nvSpPr>
          <p:cNvPr id="14" name="TextBox 13"/>
          <p:cNvSpPr txBox="1"/>
          <p:nvPr/>
        </p:nvSpPr>
        <p:spPr>
          <a:xfrm>
            <a:off x="3169310" y="3246120"/>
            <a:ext cx="1431950" cy="1399032"/>
          </a:xfrm>
          <a:prstGeom prst="rect">
            <a:avLst/>
          </a:prstGeom>
          <a:noFill/>
        </p:spPr>
        <p:txBody>
          <a:bodyPr wrap="square" lIns="0" rIns="0" tIns="0" bIns="0" anchor="t">
            <a:spAutoFit/>
          </a:bodyPr>
          <a:lstStyle/>
          <a:p>
            <a:pPr algn="l">
              <a:lnSpc>
                <a:spcPct val="120000"/>
              </a:lnSpc>
              <a:spcAft>
                <a:spcPts val="0"/>
              </a:spcAft>
            </a:pPr>
            <a:r>
              <a:rPr sz="1500" b="0" i="0">
                <a:solidFill>
                  <a:srgbClr val="1F2937"/>
                </a:solidFill>
                <a:latin typeface="Calibri"/>
              </a:rPr>
              <a:t>Install mainline 6.17.8; boot it by name.</a:t>
            </a:r>
          </a:p>
        </p:txBody>
      </p:sp>
      <p:sp>
        <p:nvSpPr>
          <p:cNvPr id="15" name="Rounded Rectangle 14"/>
          <p:cNvSpPr/>
          <p:nvPr/>
        </p:nvSpPr>
        <p:spPr>
          <a:xfrm>
            <a:off x="5104180" y="2148840"/>
            <a:ext cx="1980590" cy="2651760"/>
          </a:xfrm>
          <a:prstGeom prst="roundRect">
            <a:avLst>
              <a:gd name="adj" fmla="val 4137"/>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360212" y="23957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60212" y="247802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3</a:t>
            </a:r>
          </a:p>
        </p:txBody>
      </p:sp>
      <p:sp>
        <p:nvSpPr>
          <p:cNvPr id="18" name="TextBox 17"/>
          <p:cNvSpPr txBox="1"/>
          <p:nvPr/>
        </p:nvSpPr>
        <p:spPr>
          <a:xfrm>
            <a:off x="5972860" y="2423160"/>
            <a:ext cx="883310"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Build</a:t>
            </a:r>
          </a:p>
        </p:txBody>
      </p:sp>
      <p:sp>
        <p:nvSpPr>
          <p:cNvPr id="19" name="TextBox 18"/>
          <p:cNvSpPr txBox="1"/>
          <p:nvPr/>
        </p:nvSpPr>
        <p:spPr>
          <a:xfrm>
            <a:off x="5378500" y="3246120"/>
            <a:ext cx="1431950" cy="1399032"/>
          </a:xfrm>
          <a:prstGeom prst="rect">
            <a:avLst/>
          </a:prstGeom>
          <a:noFill/>
        </p:spPr>
        <p:txBody>
          <a:bodyPr wrap="square" lIns="0" rIns="0" tIns="0" bIns="0" anchor="t">
            <a:spAutoFit/>
          </a:bodyPr>
          <a:lstStyle/>
          <a:p>
            <a:pPr algn="l">
              <a:lnSpc>
                <a:spcPct val="120000"/>
              </a:lnSpc>
              <a:spcAft>
                <a:spcPts val="0"/>
              </a:spcAft>
            </a:pPr>
            <a:r>
              <a:rPr sz="1500" b="0" i="0">
                <a:solidFill>
                  <a:srgbClr val="1F2937"/>
                </a:solidFill>
                <a:latin typeface="Calibri"/>
              </a:rPr>
              <a:t>homa.ko and util/ from the pinned commit.</a:t>
            </a:r>
          </a:p>
        </p:txBody>
      </p:sp>
      <p:sp>
        <p:nvSpPr>
          <p:cNvPr id="20" name="Rounded Rectangle 19"/>
          <p:cNvSpPr/>
          <p:nvPr/>
        </p:nvSpPr>
        <p:spPr>
          <a:xfrm>
            <a:off x="7313371" y="2148840"/>
            <a:ext cx="1980590" cy="2651760"/>
          </a:xfrm>
          <a:prstGeom prst="roundRect">
            <a:avLst>
              <a:gd name="adj" fmla="val 4137"/>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69403" y="23957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69403" y="247802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4</a:t>
            </a:r>
          </a:p>
        </p:txBody>
      </p:sp>
      <p:sp>
        <p:nvSpPr>
          <p:cNvPr id="23" name="TextBox 22"/>
          <p:cNvSpPr txBox="1"/>
          <p:nvPr/>
        </p:nvSpPr>
        <p:spPr>
          <a:xfrm>
            <a:off x="8182051" y="2423160"/>
            <a:ext cx="883310"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Unit tests</a:t>
            </a:r>
          </a:p>
        </p:txBody>
      </p:sp>
      <p:sp>
        <p:nvSpPr>
          <p:cNvPr id="24" name="TextBox 23"/>
          <p:cNvSpPr txBox="1"/>
          <p:nvPr/>
        </p:nvSpPr>
        <p:spPr>
          <a:xfrm>
            <a:off x="7587691" y="3246120"/>
            <a:ext cx="1431950" cy="1399032"/>
          </a:xfrm>
          <a:prstGeom prst="rect">
            <a:avLst/>
          </a:prstGeom>
          <a:noFill/>
        </p:spPr>
        <p:txBody>
          <a:bodyPr wrap="square" lIns="0" rIns="0" tIns="0" bIns="0" anchor="t">
            <a:spAutoFit/>
          </a:bodyPr>
          <a:lstStyle/>
          <a:p>
            <a:pPr algn="l">
              <a:lnSpc>
                <a:spcPct val="120000"/>
              </a:lnSpc>
              <a:spcAft>
                <a:spcPts val="0"/>
              </a:spcAft>
            </a:pPr>
            <a:r>
              <a:rPr sz="1500" b="0" i="0">
                <a:solidFill>
                  <a:srgbClr val="1F2937"/>
                </a:solidFill>
                <a:latin typeface="Calibri"/>
              </a:rPr>
              <a:t>840 tests, user-space harness: all pass.</a:t>
            </a:r>
          </a:p>
        </p:txBody>
      </p:sp>
      <p:sp>
        <p:nvSpPr>
          <p:cNvPr id="25" name="Rounded Rectangle 24"/>
          <p:cNvSpPr/>
          <p:nvPr/>
        </p:nvSpPr>
        <p:spPr>
          <a:xfrm>
            <a:off x="9522561" y="2148840"/>
            <a:ext cx="1980590" cy="2651760"/>
          </a:xfrm>
          <a:prstGeom prst="roundRect">
            <a:avLst>
              <a:gd name="adj" fmla="val 4137"/>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78593" y="23957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78593" y="247802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5</a:t>
            </a:r>
          </a:p>
        </p:txBody>
      </p:sp>
      <p:sp>
        <p:nvSpPr>
          <p:cNvPr id="28" name="TextBox 27"/>
          <p:cNvSpPr txBox="1"/>
          <p:nvPr/>
        </p:nvSpPr>
        <p:spPr>
          <a:xfrm>
            <a:off x="10391241" y="2423160"/>
            <a:ext cx="883310" cy="73152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Lab pieces</a:t>
            </a:r>
          </a:p>
        </p:txBody>
      </p:sp>
      <p:sp>
        <p:nvSpPr>
          <p:cNvPr id="29" name="TextBox 28"/>
          <p:cNvSpPr txBox="1"/>
          <p:nvPr/>
        </p:nvSpPr>
        <p:spPr>
          <a:xfrm>
            <a:off x="9796881" y="3246120"/>
            <a:ext cx="1431950" cy="1399032"/>
          </a:xfrm>
          <a:prstGeom prst="rect">
            <a:avLst/>
          </a:prstGeom>
          <a:noFill/>
        </p:spPr>
        <p:txBody>
          <a:bodyPr wrap="square" lIns="0" rIns="0" tIns="0" bIns="0" anchor="t">
            <a:spAutoFit/>
          </a:bodyPr>
          <a:lstStyle/>
          <a:p>
            <a:pPr algn="l">
              <a:lnSpc>
                <a:spcPct val="120000"/>
              </a:lnSpc>
              <a:spcAft>
                <a:spcPts val="0"/>
              </a:spcAft>
            </a:pPr>
            <a:r>
              <a:rPr sz="1500" b="0" i="0">
                <a:solidFill>
                  <a:srgbClr val="1F2937"/>
                </a:solidFill>
                <a:latin typeface="Calibri"/>
              </a:rPr>
              <a:t>sw-qos, services, dissector; generalise.</a:t>
            </a:r>
          </a:p>
        </p:txBody>
      </p:sp>
      <p:sp>
        <p:nvSpPr>
          <p:cNvPr id="30" name="TextBox 29"/>
          <p:cNvSpPr txBox="1"/>
          <p:nvPr/>
        </p:nvSpPr>
        <p:spPr>
          <a:xfrm>
            <a:off x="685800" y="5257800"/>
            <a:ext cx="10817352" cy="822960"/>
          </a:xfrm>
          <a:prstGeom prst="rect">
            <a:avLst/>
          </a:prstGeom>
          <a:noFill/>
        </p:spPr>
        <p:txBody>
          <a:bodyPr wrap="square" lIns="0" rIns="0" tIns="0" bIns="0" anchor="t">
            <a:spAutoFit/>
          </a:bodyPr>
          <a:lstStyle/>
          <a:p>
            <a:pPr algn="l">
              <a:lnSpc>
                <a:spcPct val="130000"/>
              </a:lnSpc>
              <a:spcAft>
                <a:spcPts val="0"/>
              </a:spcAft>
            </a:pPr>
            <a:r>
              <a:rPr sz="1600" b="0" i="0">
                <a:solidFill>
                  <a:srgbClr val="1F2937"/>
                </a:solidFill>
                <a:latin typeface="Calibri"/>
              </a:rPr>
              <a:t>Result kept in the image and checked by suite 01:  unit tests: PASS (840 / 840 tests passed)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One 300 KB RPC on the wire</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Announced, granted, then sent — captured on sw1, decoded with the lab's dissector</a:t>
            </a:r>
          </a:p>
        </p:txBody>
      </p:sp>
      <p:sp>
        <p:nvSpPr>
          <p:cNvPr id="5" name="Rounded Rectangle 4"/>
          <p:cNvSpPr/>
          <p:nvPr/>
        </p:nvSpPr>
        <p:spPr>
          <a:xfrm>
            <a:off x="685800" y="1783080"/>
            <a:ext cx="10817352" cy="3017520"/>
          </a:xfrm>
          <a:prstGeom prst="roundRect">
            <a:avLst>
              <a:gd name="adj" fmla="val 1014"/>
            </a:avLst>
          </a:prstGeom>
          <a:solidFill>
            <a:srgbClr val="0F1D33"/>
          </a:solidFill>
          <a:ln w="12700">
            <a:solidFill>
              <a:srgbClr val="0F1D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38528"/>
            <a:ext cx="10424160" cy="2743200"/>
          </a:xfrm>
          <a:prstGeom prst="rect">
            <a:avLst/>
          </a:prstGeom>
          <a:noFill/>
        </p:spPr>
        <p:txBody>
          <a:bodyPr wrap="square" lIns="0" rIns="0" tIns="0" bIns="0" anchor="t">
            <a:spAutoFit/>
          </a:bodyPr>
          <a:lstStyle/>
          <a:p>
            <a:pPr algn="l">
              <a:lnSpc>
                <a:spcPct val="115000"/>
              </a:lnSpc>
              <a:spcAft>
                <a:spcPts val="0"/>
              </a:spcAft>
            </a:pPr>
            <a:r>
              <a:rPr sz="1200" b="0" i="0">
                <a:solidFill>
                  <a:srgbClr val="DCE7F5"/>
                </a:solidFill>
                <a:latin typeface="Courier New"/>
              </a:rPr>
              <a:t>0.000 ms   h1 → h2  prio 7     66 B  START_MSG 32843 → 4100 id=1219394 msg=300000</a:t>
            </a:r>
          </a:p>
          <a:p>
            <a:pPr algn="l">
              <a:lnSpc>
                <a:spcPct val="115000"/>
              </a:lnSpc>
              <a:spcAft>
                <a:spcPts val="0"/>
              </a:spcAft>
            </a:pPr>
            <a:r>
              <a:rPr sz="1200" b="0" i="0">
                <a:solidFill>
                  <a:srgbClr val="DCE7F5"/>
                </a:solidFill>
                <a:latin typeface="Courier New"/>
              </a:rPr>
              <a:t>0.187 ms   h2 → h1  prio 7     67 B  GRANT 4100 → 32843 id=1219394 granted=200000 prio=0</a:t>
            </a:r>
          </a:p>
          <a:p>
            <a:pPr algn="l">
              <a:lnSpc>
                <a:spcPct val="115000"/>
              </a:lnSpc>
              <a:spcAft>
                <a:spcPts val="0"/>
              </a:spcAft>
            </a:pPr>
            <a:r>
              <a:rPr sz="1200" b="0" i="0">
                <a:solidFill>
                  <a:srgbClr val="DCE7F5"/>
                </a:solidFill>
                <a:latin typeface="Courier New"/>
              </a:rPr>
              <a:t>0.327 ms   h1 → h2  prio 0   9014 B  DATA 32843 → 4100 id=1219394 off=0 len=8924 msg=300000</a:t>
            </a:r>
          </a:p>
          <a:p>
            <a:pPr algn="l">
              <a:lnSpc>
                <a:spcPct val="115000"/>
              </a:lnSpc>
              <a:spcAft>
                <a:spcPts val="0"/>
              </a:spcAft>
            </a:pPr>
            <a:r>
              <a:rPr sz="1200" b="0" i="0">
                <a:solidFill>
                  <a:srgbClr val="DCE7F5"/>
                </a:solidFill>
                <a:latin typeface="Courier New"/>
              </a:rPr>
              <a:t>0.327 ms   h1 → h2  prio 0   9014 B  DATA 32843 → 4100 id=1219394 off=8924 len=8924 msg=300000</a:t>
            </a:r>
          </a:p>
          <a:p>
            <a:pPr algn="l">
              <a:lnSpc>
                <a:spcPct val="115000"/>
              </a:lnSpc>
              <a:spcAft>
                <a:spcPts val="0"/>
              </a:spcAft>
            </a:pPr>
            <a:r>
              <a:rPr sz="1200" b="0" i="0">
                <a:solidFill>
                  <a:srgbClr val="DCE7F5"/>
                </a:solidFill>
                <a:latin typeface="Courier New"/>
              </a:rPr>
              <a:t>0.327 ms   h1 → h2  prio 0   9014 B  DATA 32843 → 4100 id=1219394 off=17848 len=8924 msg=300000</a:t>
            </a:r>
          </a:p>
          <a:p>
            <a:pPr algn="l">
              <a:lnSpc>
                <a:spcPct val="115000"/>
              </a:lnSpc>
              <a:spcAft>
                <a:spcPts val="0"/>
              </a:spcAft>
            </a:pPr>
            <a:r>
              <a:rPr sz="1200" b="0" i="0">
                <a:solidFill>
                  <a:srgbClr val="DCE7F5"/>
                </a:solidFill>
                <a:latin typeface="Courier New"/>
              </a:rPr>
              <a:t>0.327 ms   h1 → h2  prio 0   9014 B  DATA 32843 → 4100 id=1219394 off=26772 len=8924 msg=300000</a:t>
            </a:r>
          </a:p>
          <a:p>
            <a:pPr algn="l">
              <a:lnSpc>
                <a:spcPct val="115000"/>
              </a:lnSpc>
              <a:spcAft>
                <a:spcPts val="0"/>
              </a:spcAft>
            </a:pPr>
            <a:r>
              <a:rPr sz="1200" b="0" i="0">
                <a:solidFill>
                  <a:srgbClr val="DCE7F5"/>
                </a:solidFill>
                <a:latin typeface="Courier New"/>
              </a:rPr>
              <a:t>0.327 ms   h1 → h2  prio 0   9014 B  DATA 32843 → 4100 id=1219394 off=35696 len=8924 msg=300000</a:t>
            </a:r>
          </a:p>
          <a:p>
            <a:pPr algn="l">
              <a:lnSpc>
                <a:spcPct val="115000"/>
              </a:lnSpc>
              <a:spcAft>
                <a:spcPts val="0"/>
              </a:spcAft>
            </a:pPr>
            <a:r>
              <a:rPr sz="1200" b="0" i="0">
                <a:solidFill>
                  <a:srgbClr val="DCE7F5"/>
                </a:solidFill>
                <a:latin typeface="Courier New"/>
              </a:rPr>
              <a:t>0.327 ms   h1 → h2  prio 0   9014 B  DATA 32843 → 4100 id=1219394 off=44620 len=8924 msg=300000</a:t>
            </a:r>
          </a:p>
          <a:p>
            <a:pPr algn="l">
              <a:lnSpc>
                <a:spcPct val="115000"/>
              </a:lnSpc>
              <a:spcAft>
                <a:spcPts val="0"/>
              </a:spcAft>
            </a:pPr>
            <a:r>
              <a:rPr sz="1200" b="0" i="0">
                <a:solidFill>
                  <a:srgbClr val="DCE7F5"/>
                </a:solidFill>
                <a:latin typeface="Courier New"/>
              </a:rPr>
              <a:t>0.327 ms   h1 → h2  prio 0   9014 B  DATA 32843 → 4100 id=1219394 off=53544 len=8924 msg=300000</a:t>
            </a:r>
          </a:p>
          <a:p>
            <a:pPr algn="l">
              <a:lnSpc>
                <a:spcPct val="115000"/>
              </a:lnSpc>
              <a:spcAft>
                <a:spcPts val="0"/>
              </a:spcAft>
            </a:pPr>
            <a:r>
              <a:rPr sz="1200" b="0" i="0">
                <a:solidFill>
                  <a:srgbClr val="DCE7F5"/>
                </a:solidFill>
                <a:latin typeface="Courier New"/>
              </a:rPr>
              <a:t>0.327 ms   h1 → h2  prio 0   9014 B  DATA 32843 → 4100 id=1219394 off=62468 len=8924 msg=300000</a:t>
            </a:r>
          </a:p>
          <a:p>
            <a:pPr algn="l">
              <a:lnSpc>
                <a:spcPct val="115000"/>
              </a:lnSpc>
              <a:spcAft>
                <a:spcPts val="0"/>
              </a:spcAft>
            </a:pPr>
            <a:r>
              <a:rPr sz="1200" b="0" i="0">
                <a:solidFill>
                  <a:srgbClr val="DCE7F5"/>
                </a:solidFill>
                <a:latin typeface="Courier New"/>
              </a:rPr>
              <a:t>0.370 ms   h1 → h2  prio 0   9014 B  DATA 32843 → 4100 id=1219394 off=71392 len=8924 msg=300000</a:t>
            </a:r>
          </a:p>
          <a:p>
            <a:pPr algn="l">
              <a:lnSpc>
                <a:spcPct val="115000"/>
              </a:lnSpc>
              <a:spcAft>
                <a:spcPts val="0"/>
              </a:spcAft>
            </a:pPr>
            <a:r>
              <a:rPr sz="1200" b="0" i="0">
                <a:solidFill>
                  <a:srgbClr val="DCE7F5"/>
                </a:solidFill>
                <a:latin typeface="Courier New"/>
              </a:rPr>
              <a:t>0.370 ms   h1 → h2  prio 0   9014 B  DATA 32843 → 4100 id=1219394 off=80316 len=8924 msg=300000</a:t>
            </a:r>
          </a:p>
          <a:p>
            <a:pPr algn="l">
              <a:lnSpc>
                <a:spcPct val="115000"/>
              </a:lnSpc>
              <a:spcAft>
                <a:spcPts val="0"/>
              </a:spcAft>
            </a:pPr>
            <a:r>
              <a:rPr sz="1200" b="0" i="0">
                <a:solidFill>
                  <a:srgbClr val="DCE7F5"/>
                </a:solidFill>
                <a:latin typeface="Courier New"/>
              </a:rPr>
              <a:t>0.370 ms   h1 → h2  prio 0   9014 B  DATA 32843 → 4100 id=1219394 off=89240 len=8924 msg=300000</a:t>
            </a:r>
          </a:p>
        </p:txBody>
      </p:sp>
      <p:sp>
        <p:nvSpPr>
          <p:cNvPr id="7" name="Rounded Rectangle 6"/>
          <p:cNvSpPr/>
          <p:nvPr/>
        </p:nvSpPr>
        <p:spPr>
          <a:xfrm>
            <a:off x="685800" y="4983480"/>
            <a:ext cx="3422904" cy="14173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5257800"/>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START_MSG</a:t>
            </a:r>
          </a:p>
        </p:txBody>
      </p:sp>
      <p:sp>
        <p:nvSpPr>
          <p:cNvPr id="9" name="TextBox 8"/>
          <p:cNvSpPr txBox="1"/>
          <p:nvPr/>
        </p:nvSpPr>
        <p:spPr>
          <a:xfrm>
            <a:off x="960120" y="5788152"/>
            <a:ext cx="2874264" cy="457200"/>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The sender announces 300,000 bytes and sends nothing else.</a:t>
            </a:r>
          </a:p>
        </p:txBody>
      </p:sp>
      <p:sp>
        <p:nvSpPr>
          <p:cNvPr id="10" name="Rounded Rectangle 9"/>
          <p:cNvSpPr/>
          <p:nvPr/>
        </p:nvSpPr>
        <p:spPr>
          <a:xfrm>
            <a:off x="4383024" y="4983480"/>
            <a:ext cx="3422904" cy="14173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7344" y="5257800"/>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GRANT</a:t>
            </a:r>
          </a:p>
        </p:txBody>
      </p:sp>
      <p:sp>
        <p:nvSpPr>
          <p:cNvPr id="12" name="TextBox 11"/>
          <p:cNvSpPr txBox="1"/>
          <p:nvPr/>
        </p:nvSpPr>
        <p:spPr>
          <a:xfrm>
            <a:off x="4657344" y="5788152"/>
            <a:ext cx="2874264" cy="457200"/>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0.2 ms later h2 allows 200,000 bytes, at priority 0.</a:t>
            </a:r>
          </a:p>
        </p:txBody>
      </p:sp>
      <p:sp>
        <p:nvSpPr>
          <p:cNvPr id="13" name="Rounded Rectangle 12"/>
          <p:cNvSpPr/>
          <p:nvPr/>
        </p:nvSpPr>
        <p:spPr>
          <a:xfrm>
            <a:off x="8080248" y="4983480"/>
            <a:ext cx="3422904" cy="1417320"/>
          </a:xfrm>
          <a:prstGeom prst="roundRect">
            <a:avLst>
              <a:gd name="adj" fmla="val 3205"/>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4568" y="5257800"/>
            <a:ext cx="2919984"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DATA</a:t>
            </a:r>
          </a:p>
        </p:txBody>
      </p:sp>
      <p:sp>
        <p:nvSpPr>
          <p:cNvPr id="15" name="TextBox 14"/>
          <p:cNvSpPr txBox="1"/>
          <p:nvPr/>
        </p:nvSpPr>
        <p:spPr>
          <a:xfrm>
            <a:off x="8354568" y="5788152"/>
            <a:ext cx="2874264" cy="457200"/>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Full 9 KB frames; more grants extend the window as data drains.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sw1 sorts Homa's packets by priority</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Packets towards h1 during incast, by the priority in the IP header (thousands)</a:t>
            </a:r>
          </a:p>
        </p:txBody>
      </p:sp>
      <p:graphicFrame>
        <p:nvGraphicFramePr>
          <p:cNvPr id="5" name="Chart 4"/>
          <p:cNvGraphicFramePr>
            <a:graphicFrameLocks noGrp="1"/>
          </p:cNvGraphicFramePr>
          <p:nvPr/>
        </p:nvGraphicFramePr>
        <p:xfrm>
          <a:off x="685800" y="1737360"/>
          <a:ext cx="6766560" cy="4663440"/>
        </p:xfrm>
        <a:graphic>
          <a:graphicData uri="http://schemas.openxmlformats.org/drawingml/2006/chart">
            <c:chart xmlns:c="http://schemas.openxmlformats.org/drawingml/2006/chart" r:id="rId2"/>
          </a:graphicData>
        </a:graphic>
      </p:graphicFrame>
      <p:sp>
        <p:nvSpPr>
          <p:cNvPr id="6" name="Rounded Rectangle 5"/>
          <p:cNvSpPr/>
          <p:nvPr/>
        </p:nvSpPr>
        <p:spPr>
          <a:xfrm>
            <a:off x="7772400" y="1737360"/>
            <a:ext cx="3730752" cy="3657600"/>
          </a:xfrm>
          <a:prstGeom prst="roundRect">
            <a:avLst>
              <a:gd name="adj" fmla="val 294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28431" y="1965960"/>
            <a:ext cx="3218688" cy="3200400"/>
          </a:xfrm>
          <a:prstGeom prst="rect">
            <a:avLst/>
          </a:prstGeom>
          <a:noFill/>
        </p:spPr>
        <p:txBody>
          <a:bodyPr wrap="square" lIns="0" rIns="0" tIns="0" bIns="0" anchor="t">
            <a:spAutoFit/>
          </a:bodyPr>
          <a:lstStyle/>
          <a:p>
            <a:pPr algn="l">
              <a:lnSpc>
                <a:spcPct val="130000"/>
              </a:lnSpc>
              <a:spcAft>
                <a:spcPts val="1000"/>
              </a:spcAft>
            </a:pPr>
            <a:r>
              <a:rPr sz="1700" b="1" i="0">
                <a:solidFill>
                  <a:srgbClr val="0B1A2E"/>
                </a:solidFill>
                <a:latin typeface="Calibri"/>
              </a:rPr>
              <a:t>Strict priority, by DSCP</a:t>
            </a:r>
          </a:p>
          <a:p>
            <a:pPr algn="l">
              <a:lnSpc>
                <a:spcPct val="130000"/>
              </a:lnSpc>
              <a:spcAft>
                <a:spcPts val="900"/>
              </a:spcAft>
            </a:pPr>
            <a:r>
              <a:rPr sz="1500" b="0" i="0">
                <a:solidFill>
                  <a:srgbClr val="1F2937"/>
                </a:solidFill>
                <a:latin typeface="Calibri"/>
              </a:rPr>
              <a:t>Priority 7: short messages and all control packets — grants, acks, resends.</a:t>
            </a:r>
          </a:p>
          <a:p>
            <a:pPr algn="l">
              <a:lnSpc>
                <a:spcPct val="130000"/>
              </a:lnSpc>
              <a:spcAft>
                <a:spcPts val="900"/>
              </a:spcAft>
            </a:pPr>
            <a:r>
              <a:rPr sz="1500" b="0" i="0">
                <a:solidFill>
                  <a:srgbClr val="1F2937"/>
                </a:solidFill>
                <a:latin typeface="Calibri"/>
              </a:rPr>
              <a:t>Priorities 6 and below: big messages' data, at the priority each grant names.</a:t>
            </a:r>
          </a:p>
          <a:p>
            <a:pPr algn="l">
              <a:lnSpc>
                <a:spcPct val="130000"/>
              </a:lnSpc>
              <a:spcAft>
                <a:spcPts val="0"/>
              </a:spcAft>
            </a:pPr>
            <a:r>
              <a:rPr sz="1500" b="0" i="0">
                <a:solidFill>
                  <a:srgbClr val="1F2937"/>
                </a:solidFill>
                <a:latin typeface="Calibri"/>
              </a:rPr>
              <a:t>sw1 serves 7 first, then 6, and so on. TCP marks everything 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9601200" cy="411480"/>
          </a:xfrm>
          <a:prstGeom prst="rect">
            <a:avLst/>
          </a:prstGeom>
          <a:noFill/>
        </p:spPr>
        <p:txBody>
          <a:bodyPr wrap="square" lIns="0" rIns="0" tIns="0" bIns="0" anchor="t">
            <a:spAutoFit/>
          </a:bodyPr>
          <a:lstStyle/>
          <a:p>
            <a:pPr algn="l">
              <a:lnSpc>
                <a:spcPct val="115000"/>
              </a:lnSpc>
              <a:spcAft>
                <a:spcPts val="0"/>
              </a:spcAft>
            </a:pPr>
            <a:r>
              <a:rPr sz="1500" b="0" i="0">
                <a:solidFill>
                  <a:srgbClr val="8DB8EE"/>
                </a:solidFill>
                <a:latin typeface="Calibri"/>
              </a:rPr>
              <a:t>PART 3</a:t>
            </a:r>
          </a:p>
        </p:txBody>
      </p:sp>
      <p:sp>
        <p:nvSpPr>
          <p:cNvPr id="4" name="TextBox 3"/>
          <p:cNvSpPr txBox="1"/>
          <p:nvPr/>
        </p:nvSpPr>
        <p:spPr>
          <a:xfrm>
            <a:off x="1005840" y="2606040"/>
            <a:ext cx="9875520" cy="1005840"/>
          </a:xfrm>
          <a:prstGeom prst="rect">
            <a:avLst/>
          </a:prstGeom>
          <a:noFill/>
        </p:spPr>
        <p:txBody>
          <a:bodyPr wrap="square" lIns="0" rIns="0" tIns="0" bIns="0" anchor="t">
            <a:spAutoFit/>
          </a:bodyPr>
          <a:lstStyle/>
          <a:p>
            <a:pPr algn="l">
              <a:lnSpc>
                <a:spcPct val="100000"/>
              </a:lnSpc>
              <a:spcAft>
                <a:spcPts val="0"/>
              </a:spcAft>
            </a:pPr>
            <a:r>
              <a:rPr sz="4400" b="0" i="0">
                <a:solidFill>
                  <a:srgbClr val="FFFFFF"/>
                </a:solidFill>
                <a:latin typeface="Cambria"/>
              </a:rPr>
              <a:t>What the lab measured</a:t>
            </a:r>
          </a:p>
        </p:txBody>
      </p:sp>
      <p:sp>
        <p:nvSpPr>
          <p:cNvPr id="5" name="TextBox 4"/>
          <p:cNvSpPr txBox="1"/>
          <p:nvPr/>
        </p:nvSpPr>
        <p:spPr>
          <a:xfrm>
            <a:off x="1005840" y="3840480"/>
            <a:ext cx="9875520" cy="1645920"/>
          </a:xfrm>
          <a:prstGeom prst="rect">
            <a:avLst/>
          </a:prstGeom>
          <a:noFill/>
        </p:spPr>
        <p:txBody>
          <a:bodyPr wrap="square" lIns="0" rIns="0" tIns="0" bIns="0" anchor="t">
            <a:spAutoFit/>
          </a:bodyPr>
          <a:lstStyle/>
          <a:p>
            <a:pPr algn="l">
              <a:lnSpc>
                <a:spcPct val="135000"/>
              </a:lnSpc>
              <a:spcAft>
                <a:spcPts val="0"/>
              </a:spcAft>
            </a:pPr>
            <a:r>
              <a:rPr sz="1700" b="0" i="0">
                <a:solidFill>
                  <a:srgbClr val="C3D3EA"/>
                </a:solidFill>
                <a:latin typeface="Calibri"/>
              </a:rPr>
              <a:t>Incast, Homa against TCP, loss recovery, and a finding about Homa's timers.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Under incast, Homa's short messages overtake</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100-byte probes into h1 while two senders saturate its port — round trip in ms, log scale</a:t>
            </a:r>
          </a:p>
        </p:txBody>
      </p:sp>
      <p:graphicFrame>
        <p:nvGraphicFramePr>
          <p:cNvPr id="5" name="Chart 4"/>
          <p:cNvGraphicFramePr>
            <a:graphicFrameLocks noGrp="1"/>
          </p:cNvGraphicFramePr>
          <p:nvPr/>
        </p:nvGraphicFramePr>
        <p:xfrm>
          <a:off x="685800" y="1737360"/>
          <a:ext cx="7315200" cy="4754880"/>
        </p:xfrm>
        <a:graphic>
          <a:graphicData uri="http://schemas.openxmlformats.org/drawingml/2006/chart">
            <c:chart xmlns:c="http://schemas.openxmlformats.org/drawingml/2006/chart" r:id="rId2"/>
          </a:graphicData>
        </a:graphic>
      </p:graphicFrame>
      <p:sp>
        <p:nvSpPr>
          <p:cNvPr id="6" name="Rounded Rectangle 5"/>
          <p:cNvSpPr/>
          <p:nvPr/>
        </p:nvSpPr>
        <p:spPr>
          <a:xfrm>
            <a:off x="8321040" y="1783080"/>
            <a:ext cx="3182112" cy="1920240"/>
          </a:xfrm>
          <a:prstGeom prst="roundRect">
            <a:avLst>
              <a:gd name="adj" fmla="val 3448"/>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965960"/>
            <a:ext cx="2724912" cy="960120"/>
          </a:xfrm>
          <a:prstGeom prst="rect">
            <a:avLst/>
          </a:prstGeom>
          <a:noFill/>
        </p:spPr>
        <p:txBody>
          <a:bodyPr wrap="square" lIns="0" rIns="0" tIns="0" bIns="0" anchor="ctr">
            <a:spAutoFit/>
          </a:bodyPr>
          <a:lstStyle/>
          <a:p>
            <a:pPr algn="ctr">
              <a:lnSpc>
                <a:spcPct val="115000"/>
              </a:lnSpc>
              <a:spcAft>
                <a:spcPts val="0"/>
              </a:spcAft>
            </a:pPr>
            <a:r>
              <a:rPr sz="4000" b="0" i="0">
                <a:solidFill>
                  <a:srgbClr val="2A78D6"/>
                </a:solidFill>
                <a:latin typeface="Cambria"/>
              </a:rPr>
              <a:t>0.31 ms</a:t>
            </a:r>
          </a:p>
        </p:txBody>
      </p:sp>
      <p:sp>
        <p:nvSpPr>
          <p:cNvPr id="8" name="TextBox 7"/>
          <p:cNvSpPr txBox="1"/>
          <p:nvPr/>
        </p:nvSpPr>
        <p:spPr>
          <a:xfrm>
            <a:off x="8549640" y="2971800"/>
            <a:ext cx="2724912"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Homa median, priority queues</a:t>
            </a:r>
          </a:p>
        </p:txBody>
      </p:sp>
      <p:sp>
        <p:nvSpPr>
          <p:cNvPr id="9" name="Rounded Rectangle 8"/>
          <p:cNvSpPr/>
          <p:nvPr/>
        </p:nvSpPr>
        <p:spPr>
          <a:xfrm>
            <a:off x="8321040" y="3931920"/>
            <a:ext cx="3182112" cy="1920240"/>
          </a:xfrm>
          <a:prstGeom prst="roundRect">
            <a:avLst>
              <a:gd name="adj" fmla="val 3448"/>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49640" y="4114800"/>
            <a:ext cx="2724912" cy="960120"/>
          </a:xfrm>
          <a:prstGeom prst="rect">
            <a:avLst/>
          </a:prstGeom>
          <a:noFill/>
        </p:spPr>
        <p:txBody>
          <a:bodyPr wrap="square" lIns="0" rIns="0" tIns="0" bIns="0" anchor="ctr">
            <a:spAutoFit/>
          </a:bodyPr>
          <a:lstStyle/>
          <a:p>
            <a:pPr algn="ctr">
              <a:lnSpc>
                <a:spcPct val="115000"/>
              </a:lnSpc>
              <a:spcAft>
                <a:spcPts val="0"/>
              </a:spcAft>
            </a:pPr>
            <a:r>
              <a:rPr sz="4000" b="0" i="0">
                <a:solidFill>
                  <a:srgbClr val="EB6834"/>
                </a:solidFill>
                <a:latin typeface="Cambria"/>
              </a:rPr>
              <a:t>13 ms</a:t>
            </a:r>
          </a:p>
        </p:txBody>
      </p:sp>
      <p:sp>
        <p:nvSpPr>
          <p:cNvPr id="11" name="TextBox 10"/>
          <p:cNvSpPr txBox="1"/>
          <p:nvPr/>
        </p:nvSpPr>
        <p:spPr>
          <a:xfrm>
            <a:off x="8549640" y="5120640"/>
            <a:ext cx="2724912"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TCP median, same queues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Light load: a shorter tail, slower big transfers</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Same workload over each protocol — 99th-percentile round trip in ms</a:t>
            </a:r>
          </a:p>
        </p:txBody>
      </p:sp>
      <p:graphicFrame>
        <p:nvGraphicFramePr>
          <p:cNvPr id="5" name="Chart 4"/>
          <p:cNvGraphicFramePr>
            <a:graphicFrameLocks noGrp="1"/>
          </p:cNvGraphicFramePr>
          <p:nvPr/>
        </p:nvGraphicFramePr>
        <p:xfrm>
          <a:off x="685800" y="1737360"/>
          <a:ext cx="6949440" cy="4754880"/>
        </p:xfrm>
        <a:graphic>
          <a:graphicData uri="http://schemas.openxmlformats.org/drawingml/2006/chart">
            <c:chart xmlns:c="http://schemas.openxmlformats.org/drawingml/2006/chart" r:id="rId2"/>
          </a:graphicData>
        </a:graphic>
      </p:graphicFrame>
      <p:sp>
        <p:nvSpPr>
          <p:cNvPr id="6" name="Rounded Rectangle 5"/>
          <p:cNvSpPr/>
          <p:nvPr/>
        </p:nvSpPr>
        <p:spPr>
          <a:xfrm>
            <a:off x="8001000" y="1737360"/>
            <a:ext cx="3502152" cy="3840480"/>
          </a:xfrm>
          <a:prstGeom prst="roundRect">
            <a:avLst>
              <a:gd name="adj" fmla="val 2857"/>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57031" y="1965960"/>
            <a:ext cx="2990088" cy="3383280"/>
          </a:xfrm>
          <a:prstGeom prst="rect">
            <a:avLst/>
          </a:prstGeom>
          <a:noFill/>
        </p:spPr>
        <p:txBody>
          <a:bodyPr wrap="square" lIns="0" rIns="0" tIns="0" bIns="0" anchor="t">
            <a:spAutoFit/>
          </a:bodyPr>
          <a:lstStyle/>
          <a:p>
            <a:pPr algn="l">
              <a:lnSpc>
                <a:spcPct val="130000"/>
              </a:lnSpc>
              <a:spcAft>
                <a:spcPts val="1000"/>
              </a:spcAft>
            </a:pPr>
            <a:r>
              <a:rPr sz="1700" b="1" i="0">
                <a:solidFill>
                  <a:srgbClr val="0B1A2E"/>
                </a:solidFill>
                <a:latin typeface="Calibri"/>
              </a:rPr>
              <a:t>Reading it</a:t>
            </a:r>
          </a:p>
          <a:p>
            <a:pPr algn="l">
              <a:lnSpc>
                <a:spcPct val="130000"/>
              </a:lnSpc>
              <a:spcAft>
                <a:spcPts val="900"/>
              </a:spcAft>
            </a:pPr>
            <a:r>
              <a:rPr sz="1500" b="0" i="0">
                <a:solidFill>
                  <a:srgbClr val="1F2937"/>
                </a:solidFill>
                <a:latin typeface="Calibri"/>
              </a:rPr>
              <a:t>Short messages: Homa p99 2.32 ms, TCP 4.0 ms.</a:t>
            </a:r>
          </a:p>
          <a:p>
            <a:pPr algn="l">
              <a:lnSpc>
                <a:spcPct val="130000"/>
              </a:lnSpc>
              <a:spcAft>
                <a:spcPts val="900"/>
              </a:spcAft>
            </a:pPr>
            <a:r>
              <a:rPr sz="1500" b="0" i="0">
                <a:solidFill>
                  <a:srgbClr val="1F2937"/>
                </a:solidFill>
                <a:latin typeface="Calibri"/>
              </a:rPr>
              <a:t>Medians are close: 0.29 vs 0.32 ms.</a:t>
            </a:r>
          </a:p>
          <a:p>
            <a:pPr algn="l">
              <a:lnSpc>
                <a:spcPct val="130000"/>
              </a:lnSpc>
              <a:spcAft>
                <a:spcPts val="0"/>
              </a:spcAft>
            </a:pPr>
            <a:r>
              <a:rPr sz="1500" b="0" i="0">
                <a:solidFill>
                  <a:srgbClr val="1F2937"/>
                </a:solidFill>
                <a:latin typeface="Calibri"/>
              </a:rPr>
              <a:t>Long messages: TCP 15.9 ms, Homa 20.9 ms — TCP has NIC offload, Homa doesn't.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Loss recovery without connections</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sw1 drops 1 packet in 50 towards h1 while h2 runs 20 KB round trips</a:t>
            </a:r>
          </a:p>
        </p:txBody>
      </p:sp>
      <p:sp>
        <p:nvSpPr>
          <p:cNvPr id="5" name="Rounded Rectangle 4"/>
          <p:cNvSpPr/>
          <p:nvPr/>
        </p:nvSpPr>
        <p:spPr>
          <a:xfrm>
            <a:off x="685800" y="1920240"/>
            <a:ext cx="3383280" cy="1920240"/>
          </a:xfrm>
          <a:prstGeom prst="roundRect">
            <a:avLst>
              <a:gd name="adj" fmla="val 3243"/>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2926080" cy="960120"/>
          </a:xfrm>
          <a:prstGeom prst="rect">
            <a:avLst/>
          </a:prstGeom>
          <a:noFill/>
        </p:spPr>
        <p:txBody>
          <a:bodyPr wrap="square" lIns="0" rIns="0" tIns="0" bIns="0" anchor="ctr">
            <a:spAutoFit/>
          </a:bodyPr>
          <a:lstStyle/>
          <a:p>
            <a:pPr algn="ctr">
              <a:lnSpc>
                <a:spcPct val="115000"/>
              </a:lnSpc>
              <a:spcAft>
                <a:spcPts val="0"/>
              </a:spcAft>
            </a:pPr>
            <a:r>
              <a:rPr sz="5400" b="0" i="0">
                <a:solidFill>
                  <a:srgbClr val="15803D"/>
                </a:solidFill>
                <a:latin typeface="Cambria"/>
              </a:rPr>
              <a:t>300/300</a:t>
            </a:r>
          </a:p>
        </p:txBody>
      </p:sp>
      <p:sp>
        <p:nvSpPr>
          <p:cNvPr id="7" name="TextBox 6"/>
          <p:cNvSpPr txBox="1"/>
          <p:nvPr/>
        </p:nvSpPr>
        <p:spPr>
          <a:xfrm>
            <a:off x="914400" y="3108960"/>
            <a:ext cx="2926080"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RPCs completed intact</a:t>
            </a:r>
          </a:p>
        </p:txBody>
      </p:sp>
      <p:sp>
        <p:nvSpPr>
          <p:cNvPr id="8" name="Rounded Rectangle 7"/>
          <p:cNvSpPr/>
          <p:nvPr/>
        </p:nvSpPr>
        <p:spPr>
          <a:xfrm>
            <a:off x="4407408" y="1920240"/>
            <a:ext cx="3383280" cy="1920240"/>
          </a:xfrm>
          <a:prstGeom prst="roundRect">
            <a:avLst>
              <a:gd name="adj" fmla="val 3243"/>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8" y="2103120"/>
            <a:ext cx="2926080" cy="960120"/>
          </a:xfrm>
          <a:prstGeom prst="rect">
            <a:avLst/>
          </a:prstGeom>
          <a:noFill/>
        </p:spPr>
        <p:txBody>
          <a:bodyPr wrap="square" lIns="0" rIns="0" tIns="0" bIns="0" anchor="ctr">
            <a:spAutoFit/>
          </a:bodyPr>
          <a:lstStyle/>
          <a:p>
            <a:pPr algn="ctr">
              <a:lnSpc>
                <a:spcPct val="115000"/>
              </a:lnSpc>
              <a:spcAft>
                <a:spcPts val="0"/>
              </a:spcAft>
            </a:pPr>
            <a:r>
              <a:rPr sz="5400" b="0" i="0">
                <a:solidFill>
                  <a:srgbClr val="2A78D6"/>
                </a:solidFill>
                <a:latin typeface="Cambria"/>
              </a:rPr>
              <a:t>19</a:t>
            </a:r>
          </a:p>
        </p:txBody>
      </p:sp>
      <p:sp>
        <p:nvSpPr>
          <p:cNvPr id="10" name="TextBox 9"/>
          <p:cNvSpPr txBox="1"/>
          <p:nvPr/>
        </p:nvSpPr>
        <p:spPr>
          <a:xfrm>
            <a:off x="4636008" y="3108960"/>
            <a:ext cx="2926080"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RESENDs sent by h1</a:t>
            </a:r>
          </a:p>
        </p:txBody>
      </p:sp>
      <p:sp>
        <p:nvSpPr>
          <p:cNvPr id="11" name="Rounded Rectangle 10"/>
          <p:cNvSpPr/>
          <p:nvPr/>
        </p:nvSpPr>
        <p:spPr>
          <a:xfrm>
            <a:off x="8119872" y="1920240"/>
            <a:ext cx="3383280" cy="1920240"/>
          </a:xfrm>
          <a:prstGeom prst="roundRect">
            <a:avLst>
              <a:gd name="adj" fmla="val 3243"/>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8472" y="2103120"/>
            <a:ext cx="2926080" cy="960120"/>
          </a:xfrm>
          <a:prstGeom prst="rect">
            <a:avLst/>
          </a:prstGeom>
          <a:noFill/>
        </p:spPr>
        <p:txBody>
          <a:bodyPr wrap="square" lIns="0" rIns="0" tIns="0" bIns="0" anchor="ctr">
            <a:spAutoFit/>
          </a:bodyPr>
          <a:lstStyle/>
          <a:p>
            <a:pPr algn="ctr">
              <a:lnSpc>
                <a:spcPct val="115000"/>
              </a:lnSpc>
              <a:spcAft>
                <a:spcPts val="0"/>
              </a:spcAft>
            </a:pPr>
            <a:r>
              <a:rPr sz="5400" b="0" i="0">
                <a:solidFill>
                  <a:srgbClr val="15803D"/>
                </a:solidFill>
                <a:latin typeface="Cambria"/>
              </a:rPr>
              <a:t>0</a:t>
            </a:r>
          </a:p>
        </p:txBody>
      </p:sp>
      <p:sp>
        <p:nvSpPr>
          <p:cNvPr id="13" name="TextBox 12"/>
          <p:cNvSpPr txBox="1"/>
          <p:nvPr/>
        </p:nvSpPr>
        <p:spPr>
          <a:xfrm>
            <a:off x="8348472" y="3108960"/>
            <a:ext cx="2926080" cy="640080"/>
          </a:xfrm>
          <a:prstGeom prst="rect">
            <a:avLst/>
          </a:prstGeom>
          <a:noFill/>
        </p:spPr>
        <p:txBody>
          <a:bodyPr wrap="square" lIns="0" rIns="0" tIns="0" bIns="0" anchor="t">
            <a:spAutoFit/>
          </a:bodyPr>
          <a:lstStyle/>
          <a:p>
            <a:pPr algn="ctr">
              <a:lnSpc>
                <a:spcPct val="115000"/>
              </a:lnSpc>
              <a:spcAft>
                <a:spcPts val="0"/>
              </a:spcAft>
            </a:pPr>
            <a:r>
              <a:rPr sz="1400" b="0" i="0">
                <a:solidFill>
                  <a:srgbClr val="5B6676"/>
                </a:solidFill>
                <a:latin typeface="Calibri"/>
              </a:rPr>
              <a:t>RPC timeouts</a:t>
            </a:r>
          </a:p>
        </p:txBody>
      </p:sp>
      <p:sp>
        <p:nvSpPr>
          <p:cNvPr id="14" name="TextBox 13"/>
          <p:cNvSpPr txBox="1"/>
          <p:nvPr/>
        </p:nvSpPr>
        <p:spPr>
          <a:xfrm>
            <a:off x="685800" y="4343400"/>
            <a:ext cx="10817352" cy="1645920"/>
          </a:xfrm>
          <a:prstGeom prst="rect">
            <a:avLst/>
          </a:prstGeom>
          <a:noFill/>
        </p:spPr>
        <p:txBody>
          <a:bodyPr wrap="square" lIns="0" rIns="0" tIns="0" bIns="0" anchor="t">
            <a:spAutoFit/>
          </a:bodyPr>
          <a:lstStyle/>
          <a:p>
            <a:pPr algn="l">
              <a:lnSpc>
                <a:spcPct val="130000"/>
              </a:lnSpc>
              <a:spcAft>
                <a:spcPts val="0"/>
              </a:spcAft>
            </a:pPr>
            <a:r>
              <a:rPr sz="1700" b="0" i="0">
                <a:solidFill>
                  <a:srgbClr val="1F2937"/>
                </a:solidFill>
                <a:latin typeface="Calibri"/>
              </a:rPr>
              <a:t>The receiver tracks which byte ranges of each message arrived and asks for the missing ones; the sender retransmits exactly those (20 packets). Nothing else to rebuild.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Finding: Homa's timers assume a fast network</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Two senders into h1 at 1 Gbit/s, priority queues — default timers vs ×10</a:t>
            </a:r>
          </a:p>
        </p:txBody>
      </p:sp>
      <p:sp>
        <p:nvSpPr>
          <p:cNvPr id="5" name="Rounded Rectangle 4"/>
          <p:cNvSpPr/>
          <p:nvPr/>
        </p:nvSpPr>
        <p:spPr>
          <a:xfrm>
            <a:off x="685800" y="1783080"/>
            <a:ext cx="2498598" cy="19202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41832" y="2029967"/>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11226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1</a:t>
            </a:r>
          </a:p>
        </p:txBody>
      </p:sp>
      <p:sp>
        <p:nvSpPr>
          <p:cNvPr id="8" name="TextBox 7"/>
          <p:cNvSpPr txBox="1"/>
          <p:nvPr/>
        </p:nvSpPr>
        <p:spPr>
          <a:xfrm>
            <a:off x="1554480" y="2057400"/>
            <a:ext cx="1401318"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Parked</a:t>
            </a:r>
          </a:p>
        </p:txBody>
      </p:sp>
      <p:sp>
        <p:nvSpPr>
          <p:cNvPr id="9" name="TextBox 8"/>
          <p:cNvSpPr txBox="1"/>
          <p:nvPr/>
        </p:nvSpPr>
        <p:spPr>
          <a:xfrm>
            <a:off x="960120" y="2587752"/>
            <a:ext cx="1949957" cy="960120"/>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Shortest-first grants park the other messages at low priority.</a:t>
            </a:r>
          </a:p>
        </p:txBody>
      </p:sp>
      <p:sp>
        <p:nvSpPr>
          <p:cNvPr id="10" name="Rounded Rectangle 9"/>
          <p:cNvSpPr/>
          <p:nvPr/>
        </p:nvSpPr>
        <p:spPr>
          <a:xfrm>
            <a:off x="3458718" y="1783080"/>
            <a:ext cx="2498598" cy="19202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14750" y="2029967"/>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14750" y="211226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2</a:t>
            </a:r>
          </a:p>
        </p:txBody>
      </p:sp>
      <p:sp>
        <p:nvSpPr>
          <p:cNvPr id="13" name="TextBox 12"/>
          <p:cNvSpPr txBox="1"/>
          <p:nvPr/>
        </p:nvSpPr>
        <p:spPr>
          <a:xfrm>
            <a:off x="4327398" y="2057400"/>
            <a:ext cx="1401317"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Starved</a:t>
            </a:r>
          </a:p>
        </p:txBody>
      </p:sp>
      <p:sp>
        <p:nvSpPr>
          <p:cNvPr id="14" name="TextBox 13"/>
          <p:cNvSpPr txBox="1"/>
          <p:nvPr/>
        </p:nvSpPr>
        <p:spPr>
          <a:xfrm>
            <a:off x="3733037" y="2587752"/>
            <a:ext cx="1949957" cy="960120"/>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Strict priority leaves them queued for tens of ms.</a:t>
            </a:r>
          </a:p>
        </p:txBody>
      </p:sp>
      <p:sp>
        <p:nvSpPr>
          <p:cNvPr id="15" name="Rounded Rectangle 14"/>
          <p:cNvSpPr/>
          <p:nvPr/>
        </p:nvSpPr>
        <p:spPr>
          <a:xfrm>
            <a:off x="6231636" y="1783080"/>
            <a:ext cx="2498598" cy="19202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7668" y="2029967"/>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7668" y="211226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3</a:t>
            </a:r>
          </a:p>
        </p:txBody>
      </p:sp>
      <p:sp>
        <p:nvSpPr>
          <p:cNvPr id="18" name="TextBox 17"/>
          <p:cNvSpPr txBox="1"/>
          <p:nvPr/>
        </p:nvSpPr>
        <p:spPr>
          <a:xfrm>
            <a:off x="7100316" y="2057400"/>
            <a:ext cx="1401317"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False alarm</a:t>
            </a:r>
          </a:p>
        </p:txBody>
      </p:sp>
      <p:sp>
        <p:nvSpPr>
          <p:cNvPr id="19" name="TextBox 18"/>
          <p:cNvSpPr txBox="1"/>
          <p:nvPr/>
        </p:nvSpPr>
        <p:spPr>
          <a:xfrm>
            <a:off x="6505955" y="2587752"/>
            <a:ext cx="1949957" cy="960120"/>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After 5 ms of silence the receiver asks for queued data.</a:t>
            </a:r>
          </a:p>
        </p:txBody>
      </p:sp>
      <p:sp>
        <p:nvSpPr>
          <p:cNvPr id="20" name="Rounded Rectangle 19"/>
          <p:cNvSpPr/>
          <p:nvPr/>
        </p:nvSpPr>
        <p:spPr>
          <a:xfrm>
            <a:off x="9004554" y="1783080"/>
            <a:ext cx="2498598" cy="1920240"/>
          </a:xfrm>
          <a:prstGeom prst="roundRect">
            <a:avLst>
              <a:gd name="adj" fmla="val 4391"/>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60586" y="2029967"/>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11226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4</a:t>
            </a:r>
          </a:p>
        </p:txBody>
      </p:sp>
      <p:sp>
        <p:nvSpPr>
          <p:cNvPr id="23" name="TextBox 22"/>
          <p:cNvSpPr txBox="1"/>
          <p:nvPr/>
        </p:nvSpPr>
        <p:spPr>
          <a:xfrm>
            <a:off x="9873234" y="2057400"/>
            <a:ext cx="1401318" cy="411480"/>
          </a:xfrm>
          <a:prstGeom prst="rect">
            <a:avLst/>
          </a:prstGeom>
          <a:noFill/>
        </p:spPr>
        <p:txBody>
          <a:bodyPr wrap="square" lIns="0" rIns="0" tIns="0" bIns="0" anchor="t">
            <a:spAutoFit/>
          </a:bodyPr>
          <a:lstStyle/>
          <a:p>
            <a:pPr algn="l">
              <a:lnSpc>
                <a:spcPct val="100000"/>
              </a:lnSpc>
              <a:spcAft>
                <a:spcPts val="0"/>
              </a:spcAft>
            </a:pPr>
            <a:r>
              <a:rPr sz="1700" b="0" i="0">
                <a:solidFill>
                  <a:srgbClr val="0B1A2E"/>
                </a:solidFill>
                <a:latin typeface="Calibri"/>
              </a:rPr>
              <a:t>Overflow</a:t>
            </a:r>
          </a:p>
        </p:txBody>
      </p:sp>
      <p:sp>
        <p:nvSpPr>
          <p:cNvPr id="24" name="TextBox 23"/>
          <p:cNvSpPr txBox="1"/>
          <p:nvPr/>
        </p:nvSpPr>
        <p:spPr>
          <a:xfrm>
            <a:off x="9278874" y="2587752"/>
            <a:ext cx="1949957" cy="960120"/>
          </a:xfrm>
          <a:prstGeom prst="rect">
            <a:avLst/>
          </a:prstGeom>
          <a:noFill/>
        </p:spPr>
        <p:txBody>
          <a:bodyPr wrap="square" lIns="0" rIns="0" tIns="0" bIns="0" anchor="t">
            <a:spAutoFit/>
          </a:bodyPr>
          <a:lstStyle/>
          <a:p>
            <a:pPr algn="l">
              <a:lnSpc>
                <a:spcPct val="120000"/>
              </a:lnSpc>
              <a:spcAft>
                <a:spcPts val="0"/>
              </a:spcAft>
            </a:pPr>
            <a:r>
              <a:rPr sz="1400" b="0" i="0">
                <a:solidFill>
                  <a:srgbClr val="1F2937"/>
                </a:solidFill>
                <a:latin typeface="Calibri"/>
              </a:rPr>
              <a:t>The copies fill the queue: drops and timeouts.</a:t>
            </a:r>
          </a:p>
        </p:txBody>
      </p:sp>
      <p:graphicFrame>
        <p:nvGraphicFramePr>
          <p:cNvPr id="25" name="Table 24"/>
          <p:cNvGraphicFramePr>
            <a:graphicFrameLocks noGrp="1"/>
          </p:cNvGraphicFramePr>
          <p:nvPr/>
        </p:nvGraphicFramePr>
        <p:xfrm>
          <a:off x="685800" y="4023360"/>
          <a:ext cx="10817348" cy="1645920"/>
        </p:xfrm>
        <a:graphic>
          <a:graphicData uri="http://schemas.openxmlformats.org/drawingml/2006/table">
            <a:tbl>
              <a:tblPr firstRow="1" bandRow="1">
                <a:tableStyleId>{5C22544A-7EE6-4342-B048-85BDC9FD1C3A}</a:tableStyleId>
              </a:tblPr>
              <a:tblGrid>
                <a:gridCol w="4364896"/>
                <a:gridCol w="1518224"/>
                <a:gridCol w="1518224"/>
                <a:gridCol w="1708002"/>
                <a:gridCol w="1708002"/>
              </a:tblGrid>
              <a:tr h="548640">
                <a:tc>
                  <a:txBody>
                    <a:bodyPr/>
                    <a:lstStyle/>
                    <a:p>
                      <a:r>
                        <a:rPr sz="1600" b="1">
                          <a:solidFill>
                            <a:srgbClr val="FFFFFF"/>
                          </a:solidFill>
                          <a:latin typeface="Calibri"/>
                        </a:rPr>
                        <a:t>Timers</a:t>
                      </a:r>
                    </a:p>
                  </a:txBody>
                  <a:tcPr marL="91440" marR="91440" marT="36576" marB="36576" anchor="ctr">
                    <a:solidFill>
                      <a:srgbClr val="15294A"/>
                    </a:solidFill>
                  </a:tcPr>
                </a:tc>
                <a:tc>
                  <a:txBody>
                    <a:bodyPr/>
                    <a:lstStyle/>
                    <a:p>
                      <a:r>
                        <a:rPr sz="1600" b="1">
                          <a:solidFill>
                            <a:srgbClr val="FFFFFF"/>
                          </a:solidFill>
                          <a:latin typeface="Calibri"/>
                        </a:rPr>
                        <a:t>sw1 drops</a:t>
                      </a:r>
                    </a:p>
                  </a:txBody>
                  <a:tcPr marL="91440" marR="91440" marT="36576" marB="36576" anchor="ctr">
                    <a:solidFill>
                      <a:srgbClr val="15294A"/>
                    </a:solidFill>
                  </a:tcPr>
                </a:tc>
                <a:tc>
                  <a:txBody>
                    <a:bodyPr/>
                    <a:lstStyle/>
                    <a:p>
                      <a:r>
                        <a:rPr sz="1600" b="1">
                          <a:solidFill>
                            <a:srgbClr val="FFFFFF"/>
                          </a:solidFill>
                          <a:latin typeface="Calibri"/>
                        </a:rPr>
                        <a:t>RESENDs</a:t>
                      </a:r>
                    </a:p>
                  </a:txBody>
                  <a:tcPr marL="91440" marR="91440" marT="36576" marB="36576" anchor="ctr">
                    <a:solidFill>
                      <a:srgbClr val="15294A"/>
                    </a:solidFill>
                  </a:tcPr>
                </a:tc>
                <a:tc>
                  <a:txBody>
                    <a:bodyPr/>
                    <a:lstStyle/>
                    <a:p>
                      <a:r>
                        <a:rPr sz="1600" b="1">
                          <a:solidFill>
                            <a:srgbClr val="FFFFFF"/>
                          </a:solidFill>
                          <a:latin typeface="Calibri"/>
                        </a:rPr>
                        <a:t>RPC timeouts</a:t>
                      </a:r>
                    </a:p>
                  </a:txBody>
                  <a:tcPr marL="91440" marR="91440" marT="36576" marB="36576" anchor="ctr">
                    <a:solidFill>
                      <a:srgbClr val="15294A"/>
                    </a:solidFill>
                  </a:tcPr>
                </a:tc>
                <a:tc>
                  <a:txBody>
                    <a:bodyPr/>
                    <a:lstStyle/>
                    <a:p>
                      <a:r>
                        <a:rPr sz="1600" b="1">
                          <a:solidFill>
                            <a:srgbClr val="FFFFFF"/>
                          </a:solidFill>
                          <a:latin typeface="Calibri"/>
                        </a:rPr>
                        <a:t>Bulk Mbit/s</a:t>
                      </a:r>
                    </a:p>
                  </a:txBody>
                  <a:tcPr marL="91440" marR="91440" marT="36576" marB="36576" anchor="ctr">
                    <a:solidFill>
                      <a:srgbClr val="15294A"/>
                    </a:solidFill>
                  </a:tcPr>
                </a:tc>
              </a:tr>
              <a:tr h="548640">
                <a:tc>
                  <a:txBody>
                    <a:bodyPr/>
                    <a:lstStyle/>
                    <a:p>
                      <a:r>
                        <a:rPr sz="1600" b="1">
                          <a:solidFill>
                            <a:srgbClr val="1F2937"/>
                          </a:solidFill>
                          <a:latin typeface="Calibri"/>
                        </a:rPr>
                        <a:t>Defaults: resend 5 ms, timeout 100 ms</a:t>
                      </a:r>
                    </a:p>
                  </a:txBody>
                  <a:tcPr marL="91440" marR="91440" marT="36576" marB="36576" anchor="ctr">
                    <a:solidFill>
                      <a:srgbClr val="FFFFFF"/>
                    </a:solidFill>
                  </a:tcPr>
                </a:tc>
                <a:tc>
                  <a:txBody>
                    <a:bodyPr/>
                    <a:lstStyle/>
                    <a:p>
                      <a:r>
                        <a:rPr sz="1600" b="0">
                          <a:solidFill>
                            <a:srgbClr val="1F2937"/>
                          </a:solidFill>
                          <a:latin typeface="Calibri"/>
                        </a:rPr>
                        <a:t>5814</a:t>
                      </a:r>
                    </a:p>
                  </a:txBody>
                  <a:tcPr marL="91440" marR="91440" marT="36576" marB="36576" anchor="ctr">
                    <a:solidFill>
                      <a:srgbClr val="FFFFFF"/>
                    </a:solidFill>
                  </a:tcPr>
                </a:tc>
                <a:tc>
                  <a:txBody>
                    <a:bodyPr/>
                    <a:lstStyle/>
                    <a:p>
                      <a:r>
                        <a:rPr sz="1600" b="0">
                          <a:solidFill>
                            <a:srgbClr val="1F2937"/>
                          </a:solidFill>
                          <a:latin typeface="Calibri"/>
                        </a:rPr>
                        <a:t>2164</a:t>
                      </a:r>
                    </a:p>
                  </a:txBody>
                  <a:tcPr marL="91440" marR="91440" marT="36576" marB="36576" anchor="ctr">
                    <a:solidFill>
                      <a:srgbClr val="FFFFFF"/>
                    </a:solidFill>
                  </a:tcPr>
                </a:tc>
                <a:tc>
                  <a:txBody>
                    <a:bodyPr/>
                    <a:lstStyle/>
                    <a:p>
                      <a:r>
                        <a:rPr sz="1600" b="0">
                          <a:solidFill>
                            <a:srgbClr val="1F2937"/>
                          </a:solidFill>
                          <a:latin typeface="Calibri"/>
                        </a:rPr>
                        <a:t>22</a:t>
                      </a:r>
                    </a:p>
                  </a:txBody>
                  <a:tcPr marL="91440" marR="91440" marT="36576" marB="36576" anchor="ctr">
                    <a:solidFill>
                      <a:srgbClr val="FFFFFF"/>
                    </a:solidFill>
                  </a:tcPr>
                </a:tc>
                <a:tc>
                  <a:txBody>
                    <a:bodyPr/>
                    <a:lstStyle/>
                    <a:p>
                      <a:r>
                        <a:rPr sz="1600" b="0">
                          <a:solidFill>
                            <a:srgbClr val="1F2937"/>
                          </a:solidFill>
                          <a:latin typeface="Calibri"/>
                        </a:rPr>
                        <a:t>875</a:t>
                      </a:r>
                    </a:p>
                  </a:txBody>
                  <a:tcPr marL="91440" marR="91440" marT="36576" marB="36576" anchor="ctr">
                    <a:solidFill>
                      <a:srgbClr val="FFFFFF"/>
                    </a:solidFill>
                  </a:tcPr>
                </a:tc>
              </a:tr>
              <a:tr h="548640">
                <a:tc>
                  <a:txBody>
                    <a:bodyPr/>
                    <a:lstStyle/>
                    <a:p>
                      <a:r>
                        <a:rPr sz="1600" b="1">
                          <a:solidFill>
                            <a:srgbClr val="1F2937"/>
                          </a:solidFill>
                          <a:latin typeface="Calibri"/>
                        </a:rPr>
                        <a:t>Scaled ×10: resend 50 ms, timeout 1000 ms</a:t>
                      </a:r>
                    </a:p>
                  </a:txBody>
                  <a:tcPr marL="91440" marR="91440" marT="36576" marB="36576" anchor="ctr">
                    <a:solidFill>
                      <a:srgbClr val="EEF2F7"/>
                    </a:solidFill>
                  </a:tcPr>
                </a:tc>
                <a:tc>
                  <a:txBody>
                    <a:bodyPr/>
                    <a:lstStyle/>
                    <a:p>
                      <a:r>
                        <a:rPr sz="1600" b="0">
                          <a:solidFill>
                            <a:srgbClr val="1F2937"/>
                          </a:solidFill>
                          <a:latin typeface="Calibri"/>
                        </a:rPr>
                        <a:t>0</a:t>
                      </a:r>
                    </a:p>
                  </a:txBody>
                  <a:tcPr marL="91440" marR="91440" marT="36576" marB="36576" anchor="ctr">
                    <a:solidFill>
                      <a:srgbClr val="EEF2F7"/>
                    </a:solidFill>
                  </a:tcPr>
                </a:tc>
                <a:tc>
                  <a:txBody>
                    <a:bodyPr/>
                    <a:lstStyle/>
                    <a:p>
                      <a:r>
                        <a:rPr sz="1600" b="0">
                          <a:solidFill>
                            <a:srgbClr val="1F2937"/>
                          </a:solidFill>
                          <a:latin typeface="Calibri"/>
                        </a:rPr>
                        <a:t>302</a:t>
                      </a:r>
                    </a:p>
                  </a:txBody>
                  <a:tcPr marL="91440" marR="91440" marT="36576" marB="36576" anchor="ctr">
                    <a:solidFill>
                      <a:srgbClr val="EEF2F7"/>
                    </a:solidFill>
                  </a:tcPr>
                </a:tc>
                <a:tc>
                  <a:txBody>
                    <a:bodyPr/>
                    <a:lstStyle/>
                    <a:p>
                      <a:r>
                        <a:rPr sz="1600" b="0">
                          <a:solidFill>
                            <a:srgbClr val="1F2937"/>
                          </a:solidFill>
                          <a:latin typeface="Calibri"/>
                        </a:rPr>
                        <a:t>0</a:t>
                      </a:r>
                    </a:p>
                  </a:txBody>
                  <a:tcPr marL="91440" marR="91440" marT="36576" marB="36576" anchor="ctr">
                    <a:solidFill>
                      <a:srgbClr val="EEF2F7"/>
                    </a:solidFill>
                  </a:tcPr>
                </a:tc>
                <a:tc>
                  <a:txBody>
                    <a:bodyPr/>
                    <a:lstStyle/>
                    <a:p>
                      <a:r>
                        <a:rPr sz="1600" b="0">
                          <a:solidFill>
                            <a:srgbClr val="1F2937"/>
                          </a:solidFill>
                          <a:latin typeface="Calibri"/>
                        </a:rPr>
                        <a:t>877</a:t>
                      </a:r>
                    </a:p>
                  </a:txBody>
                  <a:tcPr marL="91440" marR="91440" marT="36576" marB="36576" anchor="ctr">
                    <a:solidFill>
                      <a:srgbClr val="EEF2F7"/>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rIns="0" tIns="0" bIns="0" anchor="t">
            <a:spAutoFit/>
          </a:bodyPr>
          <a:lstStyle/>
          <a:p>
            <a:pPr algn="l">
              <a:lnSpc>
                <a:spcPct val="115000"/>
              </a:lnSpc>
              <a:spcAft>
                <a:spcPts val="0"/>
              </a:spcAft>
            </a:pPr>
            <a:r>
              <a:rPr sz="3200" b="0" i="0">
                <a:solidFill>
                  <a:srgbClr val="0B1A2E"/>
                </a:solidFill>
                <a:latin typeface="Cambria"/>
              </a:rPr>
              <a:t>26 tests, seven suites</a:t>
            </a:r>
          </a:p>
        </p:txBody>
      </p:sp>
      <p:sp>
        <p:nvSpPr>
          <p:cNvPr id="4" name="TextBox 3"/>
          <p:cNvSpPr txBox="1"/>
          <p:nvPr/>
        </p:nvSpPr>
        <p:spPr>
          <a:xfrm>
            <a:off x="685800" y="1188720"/>
            <a:ext cx="10817352" cy="411480"/>
          </a:xfrm>
          <a:prstGeom prst="rect">
            <a:avLst/>
          </a:prstGeom>
          <a:noFill/>
        </p:spPr>
        <p:txBody>
          <a:bodyPr wrap="square" lIns="0" rIns="0" tIns="0" bIns="0" anchor="t">
            <a:spAutoFit/>
          </a:bodyPr>
          <a:lstStyle/>
          <a:p>
            <a:pPr algn="l">
              <a:lnSpc>
                <a:spcPct val="115000"/>
              </a:lnSpc>
              <a:spcAft>
                <a:spcPts val="0"/>
              </a:spcAft>
            </a:pPr>
            <a:r>
              <a:rPr sz="1600" b="0" i="0">
                <a:solidFill>
                  <a:srgbClr val="5B6676"/>
                </a:solidFill>
                <a:latin typeface="Calibri"/>
              </a:rPr>
              <a:t>./lab.sh test — about 12 minutes; the last full run passed 26 of 26</a:t>
            </a:r>
          </a:p>
        </p:txBody>
      </p:sp>
      <p:graphicFrame>
        <p:nvGraphicFramePr>
          <p:cNvPr id="5" name="Table 4"/>
          <p:cNvGraphicFramePr>
            <a:graphicFrameLocks noGrp="1"/>
          </p:cNvGraphicFramePr>
          <p:nvPr/>
        </p:nvGraphicFramePr>
        <p:xfrm>
          <a:off x="685800" y="1783080"/>
          <a:ext cx="10817350" cy="4389120"/>
        </p:xfrm>
        <a:graphic>
          <a:graphicData uri="http://schemas.openxmlformats.org/drawingml/2006/table">
            <a:tbl>
              <a:tblPr firstRow="1" bandRow="1">
                <a:tableStyleId>{5C22544A-7EE6-4342-B048-85BDC9FD1C3A}</a:tableStyleId>
              </a:tblPr>
              <a:tblGrid>
                <a:gridCol w="1851618"/>
                <a:gridCol w="7991196"/>
                <a:gridCol w="974536"/>
              </a:tblGrid>
              <a:tr h="548640">
                <a:tc>
                  <a:txBody>
                    <a:bodyPr/>
                    <a:lstStyle/>
                    <a:p>
                      <a:r>
                        <a:rPr sz="1500" b="1">
                          <a:solidFill>
                            <a:srgbClr val="FFFFFF"/>
                          </a:solidFill>
                          <a:latin typeface="Calibri"/>
                        </a:rPr>
                        <a:t>Suite</a:t>
                      </a:r>
                    </a:p>
                  </a:txBody>
                  <a:tcPr marL="91440" marR="91440" marT="36576" marB="36576" anchor="ctr">
                    <a:solidFill>
                      <a:srgbClr val="15294A"/>
                    </a:solidFill>
                  </a:tcPr>
                </a:tc>
                <a:tc>
                  <a:txBody>
                    <a:bodyPr/>
                    <a:lstStyle/>
                    <a:p>
                      <a:r>
                        <a:rPr sz="1500" b="1">
                          <a:solidFill>
                            <a:srgbClr val="FFFFFF"/>
                          </a:solidFill>
                          <a:latin typeface="Calibri"/>
                        </a:rPr>
                        <a:t>What it checks</a:t>
                      </a:r>
                    </a:p>
                  </a:txBody>
                  <a:tcPr marL="91440" marR="91440" marT="36576" marB="36576" anchor="ctr">
                    <a:solidFill>
                      <a:srgbClr val="15294A"/>
                    </a:solidFill>
                  </a:tcPr>
                </a:tc>
                <a:tc>
                  <a:txBody>
                    <a:bodyPr/>
                    <a:lstStyle/>
                    <a:p>
                      <a:r>
                        <a:rPr sz="1500" b="1">
                          <a:solidFill>
                            <a:srgbClr val="FFFFFF"/>
                          </a:solidFill>
                          <a:latin typeface="Calibri"/>
                        </a:rPr>
                        <a:t>Tests</a:t>
                      </a:r>
                    </a:p>
                  </a:txBody>
                  <a:tcPr marL="91440" marR="91440" marT="36576" marB="36576" anchor="ctr">
                    <a:solidFill>
                      <a:srgbClr val="15294A"/>
                    </a:solidFill>
                  </a:tcPr>
                </a:tc>
              </a:tr>
              <a:tr h="548640">
                <a:tc>
                  <a:txBody>
                    <a:bodyPr/>
                    <a:lstStyle/>
                    <a:p>
                      <a:r>
                        <a:rPr sz="1500" b="1">
                          <a:solidFill>
                            <a:srgbClr val="1F2937"/>
                          </a:solidFill>
                          <a:latin typeface="Calibri"/>
                        </a:rPr>
                        <a:t>01 platform</a:t>
                      </a:r>
                    </a:p>
                  </a:txBody>
                  <a:tcPr marL="91440" marR="91440" marT="36576" marB="36576" anchor="ctr">
                    <a:solidFill>
                      <a:srgbClr val="FFFFFF"/>
                    </a:solidFill>
                  </a:tcPr>
                </a:tc>
                <a:tc>
                  <a:txBody>
                    <a:bodyPr/>
                    <a:lstStyle/>
                    <a:p>
                      <a:r>
                        <a:rPr sz="1500" b="0">
                          <a:solidFill>
                            <a:srgbClr val="1F2937"/>
                          </a:solidFill>
                          <a:latin typeface="Calibri"/>
                        </a:rPr>
                        <a:t>Pinned kernel, the right module build, unit tests passed, sysctls, services, sw1</a:t>
                      </a:r>
                    </a:p>
                  </a:txBody>
                  <a:tcPr marL="91440" marR="91440" marT="36576" marB="36576" anchor="ctr">
                    <a:solidFill>
                      <a:srgbClr val="FFFFFF"/>
                    </a:solidFill>
                  </a:tcPr>
                </a:tc>
                <a:tc>
                  <a:txBody>
                    <a:bodyPr/>
                    <a:lstStyle/>
                    <a:p>
                      <a:r>
                        <a:rPr sz="1500" b="0">
                          <a:solidFill>
                            <a:srgbClr val="1F2937"/>
                          </a:solidFill>
                          <a:latin typeface="Calibri"/>
                        </a:rPr>
                        <a:t>5</a:t>
                      </a:r>
                    </a:p>
                  </a:txBody>
                  <a:tcPr marL="91440" marR="91440" marT="36576" marB="36576" anchor="ctr">
                    <a:solidFill>
                      <a:srgbClr val="FFFFFF"/>
                    </a:solidFill>
                  </a:tcPr>
                </a:tc>
              </a:tr>
              <a:tr h="548640">
                <a:tc>
                  <a:txBody>
                    <a:bodyPr/>
                    <a:lstStyle/>
                    <a:p>
                      <a:r>
                        <a:rPr sz="1500" b="1">
                          <a:solidFill>
                            <a:srgbClr val="1F2937"/>
                          </a:solidFill>
                          <a:latin typeface="Calibri"/>
                        </a:rPr>
                        <a:t>02 function</a:t>
                      </a:r>
                    </a:p>
                  </a:txBody>
                  <a:tcPr marL="91440" marR="91440" marT="36576" marB="36576" anchor="ctr">
                    <a:solidFill>
                      <a:srgbClr val="EEF2F7"/>
                    </a:solidFill>
                  </a:tcPr>
                </a:tc>
                <a:tc>
                  <a:txBody>
                    <a:bodyPr/>
                    <a:lstStyle/>
                    <a:p>
                      <a:r>
                        <a:rPr sz="1500" b="0">
                          <a:solidFill>
                            <a:srgbClr val="1F2937"/>
                          </a:solidFill>
                          <a:latin typeface="Calibri"/>
                        </a:rPr>
                        <a:t>Jumbo frames; 48 round trips v4/v6; 8 B–1 MB intact; unload and autoload</a:t>
                      </a:r>
                    </a:p>
                  </a:txBody>
                  <a:tcPr marL="91440" marR="91440" marT="36576" marB="36576" anchor="ctr">
                    <a:solidFill>
                      <a:srgbClr val="EEF2F7"/>
                    </a:solidFill>
                  </a:tcPr>
                </a:tc>
                <a:tc>
                  <a:txBody>
                    <a:bodyPr/>
                    <a:lstStyle/>
                    <a:p>
                      <a:r>
                        <a:rPr sz="1500" b="0">
                          <a:solidFill>
                            <a:srgbClr val="1F2937"/>
                          </a:solidFill>
                          <a:latin typeface="Calibri"/>
                        </a:rPr>
                        <a:t>5</a:t>
                      </a:r>
                    </a:p>
                  </a:txBody>
                  <a:tcPr marL="91440" marR="91440" marT="36576" marB="36576" anchor="ctr">
                    <a:solidFill>
                      <a:srgbClr val="EEF2F7"/>
                    </a:solidFill>
                  </a:tcPr>
                </a:tc>
              </a:tr>
              <a:tr h="548640">
                <a:tc>
                  <a:txBody>
                    <a:bodyPr/>
                    <a:lstStyle/>
                    <a:p>
                      <a:r>
                        <a:rPr sz="1500" b="1">
                          <a:solidFill>
                            <a:srgbClr val="1F2937"/>
                          </a:solidFill>
                          <a:latin typeface="Calibri"/>
                        </a:rPr>
                        <a:t>03 wire</a:t>
                      </a:r>
                    </a:p>
                  </a:txBody>
                  <a:tcPr marL="91440" marR="91440" marT="36576" marB="36576" anchor="ctr">
                    <a:solidFill>
                      <a:srgbClr val="FFFFFF"/>
                    </a:solidFill>
                  </a:tcPr>
                </a:tc>
                <a:tc>
                  <a:txBody>
                    <a:bodyPr/>
                    <a:lstStyle/>
                    <a:p>
                      <a:r>
                        <a:rPr sz="1500" b="0">
                          <a:solidFill>
                            <a:srgbClr val="1F2937"/>
                          </a:solidFill>
                          <a:latin typeface="Calibri"/>
                        </a:rPr>
                        <a:t>Packet types; short and control at priority 7; granted priorities below</a:t>
                      </a:r>
                    </a:p>
                  </a:txBody>
                  <a:tcPr marL="91440" marR="91440" marT="36576" marB="36576" anchor="ctr">
                    <a:solidFill>
                      <a:srgbClr val="FFFFFF"/>
                    </a:solidFill>
                  </a:tcPr>
                </a:tc>
                <a:tc>
                  <a:txBody>
                    <a:bodyPr/>
                    <a:lstStyle/>
                    <a:p>
                      <a:r>
                        <a:rPr sz="1500" b="0">
                          <a:solidFill>
                            <a:srgbClr val="1F2937"/>
                          </a:solidFill>
                          <a:latin typeface="Calibri"/>
                        </a:rPr>
                        <a:t>6</a:t>
                      </a:r>
                    </a:p>
                  </a:txBody>
                  <a:tcPr marL="91440" marR="91440" marT="36576" marB="36576" anchor="ctr">
                    <a:solidFill>
                      <a:srgbClr val="FFFFFF"/>
                    </a:solidFill>
                  </a:tcPr>
                </a:tc>
              </a:tr>
              <a:tr h="548640">
                <a:tc>
                  <a:txBody>
                    <a:bodyPr/>
                    <a:lstStyle/>
                    <a:p>
                      <a:r>
                        <a:rPr sz="1500" b="1">
                          <a:solidFill>
                            <a:srgbClr val="1F2937"/>
                          </a:solidFill>
                          <a:latin typeface="Calibri"/>
                        </a:rPr>
                        <a:t>04 compare</a:t>
                      </a:r>
                    </a:p>
                  </a:txBody>
                  <a:tcPr marL="91440" marR="91440" marT="36576" marB="36576" anchor="ctr">
                    <a:solidFill>
                      <a:srgbClr val="EEF2F7"/>
                    </a:solidFill>
                  </a:tcPr>
                </a:tc>
                <a:tc>
                  <a:txBody>
                    <a:bodyPr/>
                    <a:lstStyle/>
                    <a:p>
                      <a:r>
                        <a:rPr sz="1500" b="0">
                          <a:solidFill>
                            <a:srgbClr val="1F2937"/>
                          </a:solidFill>
                          <a:latin typeface="Calibri"/>
                        </a:rPr>
                        <a:t>Homa vs TCP on the same workload; Homa's short tail not worse</a:t>
                      </a:r>
                    </a:p>
                  </a:txBody>
                  <a:tcPr marL="91440" marR="91440" marT="36576" marB="36576" anchor="ctr">
                    <a:solidFill>
                      <a:srgbClr val="EEF2F7"/>
                    </a:solidFill>
                  </a:tcPr>
                </a:tc>
                <a:tc>
                  <a:txBody>
                    <a:bodyPr/>
                    <a:lstStyle/>
                    <a:p>
                      <a:r>
                        <a:rPr sz="1500" b="0">
                          <a:solidFill>
                            <a:srgbClr val="1F2937"/>
                          </a:solidFill>
                          <a:latin typeface="Calibri"/>
                        </a:rPr>
                        <a:t>2</a:t>
                      </a:r>
                    </a:p>
                  </a:txBody>
                  <a:tcPr marL="91440" marR="91440" marT="36576" marB="36576" anchor="ctr">
                    <a:solidFill>
                      <a:srgbClr val="EEF2F7"/>
                    </a:solidFill>
                  </a:tcPr>
                </a:tc>
              </a:tr>
              <a:tr h="548640">
                <a:tc>
                  <a:txBody>
                    <a:bodyPr/>
                    <a:lstStyle/>
                    <a:p>
                      <a:r>
                        <a:rPr sz="1500" b="1">
                          <a:solidFill>
                            <a:srgbClr val="1F2937"/>
                          </a:solidFill>
                          <a:latin typeface="Calibri"/>
                        </a:rPr>
                        <a:t>05 incast</a:t>
                      </a:r>
                    </a:p>
                  </a:txBody>
                  <a:tcPr marL="91440" marR="91440" marT="36576" marB="36576" anchor="ctr">
                    <a:solidFill>
                      <a:srgbClr val="FFFFFF"/>
                    </a:solidFill>
                  </a:tcPr>
                </a:tc>
                <a:tc>
                  <a:txBody>
                    <a:bodyPr/>
                    <a:lstStyle/>
                    <a:p>
                      <a:r>
                        <a:rPr sz="1500" b="0">
                          <a:solidFill>
                            <a:srgbClr val="1F2937"/>
                          </a:solidFill>
                          <a:latin typeface="Calibri"/>
                        </a:rPr>
                        <a:t>Priority queues help Homa; Homa beats TCP 10× at p50, 3× at p99</a:t>
                      </a:r>
                    </a:p>
                  </a:txBody>
                  <a:tcPr marL="91440" marR="91440" marT="36576" marB="36576" anchor="ctr">
                    <a:solidFill>
                      <a:srgbClr val="FFFFFF"/>
                    </a:solidFill>
                  </a:tcPr>
                </a:tc>
                <a:tc>
                  <a:txBody>
                    <a:bodyPr/>
                    <a:lstStyle/>
                    <a:p>
                      <a:r>
                        <a:rPr sz="1500" b="0">
                          <a:solidFill>
                            <a:srgbClr val="1F2937"/>
                          </a:solidFill>
                          <a:latin typeface="Calibri"/>
                        </a:rPr>
                        <a:t>4</a:t>
                      </a:r>
                    </a:p>
                  </a:txBody>
                  <a:tcPr marL="91440" marR="91440" marT="36576" marB="36576" anchor="ctr">
                    <a:solidFill>
                      <a:srgbClr val="FFFFFF"/>
                    </a:solidFill>
                  </a:tcPr>
                </a:tc>
              </a:tr>
              <a:tr h="548640">
                <a:tc>
                  <a:txBody>
                    <a:bodyPr/>
                    <a:lstStyle/>
                    <a:p>
                      <a:r>
                        <a:rPr sz="1500" b="1">
                          <a:solidFill>
                            <a:srgbClr val="1F2937"/>
                          </a:solidFill>
                          <a:latin typeface="Calibri"/>
                        </a:rPr>
                        <a:t>06 loss</a:t>
                      </a:r>
                    </a:p>
                  </a:txBody>
                  <a:tcPr marL="91440" marR="91440" marT="36576" marB="36576" anchor="ctr">
                    <a:solidFill>
                      <a:srgbClr val="EEF2F7"/>
                    </a:solidFill>
                  </a:tcPr>
                </a:tc>
                <a:tc>
                  <a:txBody>
                    <a:bodyPr/>
                    <a:lstStyle/>
                    <a:p>
                      <a:r>
                        <a:rPr sz="1500" b="0">
                          <a:solidFill>
                            <a:srgbClr val="1F2937"/>
                          </a:solidFill>
                          <a:latin typeface="Calibri"/>
                        </a:rPr>
                        <a:t>1/50 loss: all RPCs complete, RESENDs answered, no timeouts</a:t>
                      </a:r>
                    </a:p>
                  </a:txBody>
                  <a:tcPr marL="91440" marR="91440" marT="36576" marB="36576" anchor="ctr">
                    <a:solidFill>
                      <a:srgbClr val="EEF2F7"/>
                    </a:solidFill>
                  </a:tcPr>
                </a:tc>
                <a:tc>
                  <a:txBody>
                    <a:bodyPr/>
                    <a:lstStyle/>
                    <a:p>
                      <a:r>
                        <a:rPr sz="1500" b="0">
                          <a:solidFill>
                            <a:srgbClr val="1F2937"/>
                          </a:solidFill>
                          <a:latin typeface="Calibri"/>
                        </a:rPr>
                        <a:t>2</a:t>
                      </a:r>
                    </a:p>
                  </a:txBody>
                  <a:tcPr marL="91440" marR="91440" marT="36576" marB="36576" anchor="ctr">
                    <a:solidFill>
                      <a:srgbClr val="EEF2F7"/>
                    </a:solidFill>
                  </a:tcPr>
                </a:tc>
              </a:tr>
              <a:tr h="548640">
                <a:tc>
                  <a:txBody>
                    <a:bodyPr/>
                    <a:lstStyle/>
                    <a:p>
                      <a:r>
                        <a:rPr sz="1500" b="1">
                          <a:solidFill>
                            <a:srgbClr val="1F2937"/>
                          </a:solidFill>
                          <a:latin typeface="Calibri"/>
                        </a:rPr>
                        <a:t>07 timers</a:t>
                      </a:r>
                    </a:p>
                  </a:txBody>
                  <a:tcPr marL="91440" marR="91440" marT="36576" marB="36576" anchor="ctr">
                    <a:solidFill>
                      <a:srgbClr val="FFFFFF"/>
                    </a:solidFill>
                  </a:tcPr>
                </a:tc>
                <a:tc>
                  <a:txBody>
                    <a:bodyPr/>
                    <a:lstStyle/>
                    <a:p>
                      <a:r>
                        <a:rPr sz="1500" b="0">
                          <a:solidFill>
                            <a:srgbClr val="1F2937"/>
                          </a:solidFill>
                          <a:latin typeface="Calibri"/>
                        </a:rPr>
                        <a:t>Default timers misfire; ×10 timers: no drops, no timeouts</a:t>
                      </a:r>
                    </a:p>
                  </a:txBody>
                  <a:tcPr marL="91440" marR="91440" marT="36576" marB="36576" anchor="ctr">
                    <a:solidFill>
                      <a:srgbClr val="FFFFFF"/>
                    </a:solidFill>
                  </a:tcPr>
                </a:tc>
                <a:tc>
                  <a:txBody>
                    <a:bodyPr/>
                    <a:lstStyle/>
                    <a:p>
                      <a:r>
                        <a:rPr sz="1500" b="0">
                          <a:solidFill>
                            <a:srgbClr val="1F2937"/>
                          </a:solidFill>
                          <a:latin typeface="Calibri"/>
                        </a:rPr>
                        <a:t>2</a:t>
                      </a:r>
                    </a:p>
                  </a:txBody>
                  <a:tcPr marL="91440" marR="91440" marT="36576" marB="36576"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822960"/>
          </a:xfrm>
          <a:prstGeom prst="rect">
            <a:avLst/>
          </a:prstGeom>
          <a:noFill/>
        </p:spPr>
        <p:txBody>
          <a:bodyPr wrap="square" lIns="0" rIns="0" tIns="0" bIns="0" anchor="t">
            <a:spAutoFit/>
          </a:bodyPr>
          <a:lstStyle/>
          <a:p>
            <a:pPr algn="l">
              <a:lnSpc>
                <a:spcPct val="115000"/>
              </a:lnSpc>
              <a:spcAft>
                <a:spcPts val="0"/>
              </a:spcAft>
            </a:pPr>
            <a:r>
              <a:rPr sz="3400" b="0" i="0">
                <a:solidFill>
                  <a:srgbClr val="FFFFFF"/>
                </a:solidFill>
                <a:latin typeface="Cambria"/>
              </a:rPr>
              <a:t>What we learned</a:t>
            </a:r>
          </a:p>
        </p:txBody>
      </p:sp>
      <p:sp>
        <p:nvSpPr>
          <p:cNvPr id="4" name="Rounded Rectangle 3"/>
          <p:cNvSpPr/>
          <p:nvPr/>
        </p:nvSpPr>
        <p:spPr>
          <a:xfrm>
            <a:off x="822960"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03120"/>
            <a:ext cx="1993391"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Priority queues work</a:t>
            </a:r>
          </a:p>
        </p:txBody>
      </p:sp>
      <p:sp>
        <p:nvSpPr>
          <p:cNvPr id="6" name="TextBox 5"/>
          <p:cNvSpPr txBox="1"/>
          <p:nvPr/>
        </p:nvSpPr>
        <p:spPr>
          <a:xfrm>
            <a:off x="1097280"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Under incast Homa's short messages stayed at 0.31 ms median; one FIFO: 2.99 ms; TCP: 13+ ms.</a:t>
            </a:r>
          </a:p>
        </p:txBody>
      </p:sp>
      <p:sp>
        <p:nvSpPr>
          <p:cNvPr id="7" name="Rounded Rectangle 6"/>
          <p:cNvSpPr/>
          <p:nvPr/>
        </p:nvSpPr>
        <p:spPr>
          <a:xfrm>
            <a:off x="3502152"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2103120"/>
            <a:ext cx="1993392"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Scale the timers</a:t>
            </a:r>
          </a:p>
        </p:txBody>
      </p:sp>
      <p:sp>
        <p:nvSpPr>
          <p:cNvPr id="9" name="TextBox 8"/>
          <p:cNvSpPr txBox="1"/>
          <p:nvPr/>
        </p:nvSpPr>
        <p:spPr>
          <a:xfrm>
            <a:off x="3776472"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At 1 Gbit/s the default resend timer misfires; ×10 removes drops and timeouts.</a:t>
            </a:r>
          </a:p>
        </p:txBody>
      </p:sp>
      <p:sp>
        <p:nvSpPr>
          <p:cNvPr id="10" name="Rounded Rectangle 9"/>
          <p:cNvSpPr/>
          <p:nvPr/>
        </p:nvSpPr>
        <p:spPr>
          <a:xfrm>
            <a:off x="6181344"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2103120"/>
            <a:ext cx="1993391"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Offload gap</a:t>
            </a:r>
          </a:p>
        </p:txBody>
      </p:sp>
      <p:sp>
        <p:nvSpPr>
          <p:cNvPr id="12" name="TextBox 11"/>
          <p:cNvSpPr txBox="1"/>
          <p:nvPr/>
        </p:nvSpPr>
        <p:spPr>
          <a:xfrm>
            <a:off x="6455664"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NICs segment TCP, not Homa; its GSO and TCP-hijack modes failed for 1 MB messages here.</a:t>
            </a:r>
          </a:p>
        </p:txBody>
      </p:sp>
      <p:sp>
        <p:nvSpPr>
          <p:cNvPr id="13" name="Rounded Rectangle 12"/>
          <p:cNvSpPr/>
          <p:nvPr/>
        </p:nvSpPr>
        <p:spPr>
          <a:xfrm>
            <a:off x="8860536"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6" y="2103120"/>
            <a:ext cx="1993391"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Lab plumbing matters</a:t>
            </a:r>
          </a:p>
        </p:txBody>
      </p:sp>
      <p:sp>
        <p:nvSpPr>
          <p:cNvPr id="15" name="TextBox 14"/>
          <p:cNvSpPr txBox="1"/>
          <p:nvPr/>
        </p:nvSpPr>
        <p:spPr>
          <a:xfrm>
            <a:off x="9134856"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UDP tunnels lost Homa's bursts silently; captures must be taken on the switch.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822960"/>
          </a:xfrm>
          <a:prstGeom prst="rect">
            <a:avLst/>
          </a:prstGeom>
          <a:noFill/>
        </p:spPr>
        <p:txBody>
          <a:bodyPr wrap="square" lIns="0" rIns="0" tIns="0" bIns="0" anchor="t">
            <a:spAutoFit/>
          </a:bodyPr>
          <a:lstStyle/>
          <a:p>
            <a:pPr algn="l">
              <a:lnSpc>
                <a:spcPct val="115000"/>
              </a:lnSpc>
              <a:spcAft>
                <a:spcPts val="0"/>
              </a:spcAft>
            </a:pPr>
            <a:r>
              <a:rPr sz="3400" b="0" i="0">
                <a:solidFill>
                  <a:srgbClr val="FFFFFF"/>
                </a:solidFill>
                <a:latin typeface="Cambria"/>
              </a:rPr>
              <a:t>What's next</a:t>
            </a:r>
          </a:p>
        </p:txBody>
      </p:sp>
      <p:sp>
        <p:nvSpPr>
          <p:cNvPr id="4" name="Rounded Rectangle 3"/>
          <p:cNvSpPr/>
          <p:nvPr/>
        </p:nvSpPr>
        <p:spPr>
          <a:xfrm>
            <a:off x="822960"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78992" y="207568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 y="215798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1</a:t>
            </a:r>
          </a:p>
        </p:txBody>
      </p:sp>
      <p:sp>
        <p:nvSpPr>
          <p:cNvPr id="7" name="TextBox 6"/>
          <p:cNvSpPr txBox="1"/>
          <p:nvPr/>
        </p:nvSpPr>
        <p:spPr>
          <a:xfrm>
            <a:off x="1691640" y="2103120"/>
            <a:ext cx="1399031"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Portal and metrics</a:t>
            </a:r>
          </a:p>
        </p:txBody>
      </p:sp>
      <p:sp>
        <p:nvSpPr>
          <p:cNvPr id="8" name="TextBox 7"/>
          <p:cNvSpPr txBox="1"/>
          <p:nvPr/>
        </p:nvSpPr>
        <p:spPr>
          <a:xfrm>
            <a:off x="1097280"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A Prometheus exporter for Homa's metrics, a Grafana board, a portal on port 8108.</a:t>
            </a:r>
          </a:p>
        </p:txBody>
      </p:sp>
      <p:sp>
        <p:nvSpPr>
          <p:cNvPr id="9" name="Rounded Rectangle 8"/>
          <p:cNvSpPr/>
          <p:nvPr/>
        </p:nvSpPr>
        <p:spPr>
          <a:xfrm>
            <a:off x="3502152"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758184" y="207568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58184" y="215798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2</a:t>
            </a:r>
          </a:p>
        </p:txBody>
      </p:sp>
      <p:sp>
        <p:nvSpPr>
          <p:cNvPr id="12" name="TextBox 11"/>
          <p:cNvSpPr txBox="1"/>
          <p:nvPr/>
        </p:nvSpPr>
        <p:spPr>
          <a:xfrm>
            <a:off x="4370832" y="2103120"/>
            <a:ext cx="1399032"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Upstream track</a:t>
            </a:r>
          </a:p>
        </p:txBody>
      </p:sp>
      <p:sp>
        <p:nvSpPr>
          <p:cNvPr id="13" name="TextBox 12"/>
          <p:cNvSpPr txBox="1"/>
          <p:nvPr/>
        </p:nvSpPr>
        <p:spPr>
          <a:xfrm>
            <a:off x="3776472"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A second kernel built from the upstream Homa patches, compared with the module.</a:t>
            </a:r>
          </a:p>
        </p:txBody>
      </p:sp>
      <p:sp>
        <p:nvSpPr>
          <p:cNvPr id="14" name="Rounded Rectangle 13"/>
          <p:cNvSpPr/>
          <p:nvPr/>
        </p:nvSpPr>
        <p:spPr>
          <a:xfrm>
            <a:off x="6181344"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37376" y="207568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15798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3</a:t>
            </a:r>
          </a:p>
        </p:txBody>
      </p:sp>
      <p:sp>
        <p:nvSpPr>
          <p:cNvPr id="17" name="TextBox 16"/>
          <p:cNvSpPr txBox="1"/>
          <p:nvPr/>
        </p:nvSpPr>
        <p:spPr>
          <a:xfrm>
            <a:off x="7050024" y="2103120"/>
            <a:ext cx="1399031"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Offloads</a:t>
            </a:r>
          </a:p>
        </p:txBody>
      </p:sp>
      <p:sp>
        <p:nvSpPr>
          <p:cNvPr id="18" name="TextBox 17"/>
          <p:cNvSpPr txBox="1"/>
          <p:nvPr/>
        </p:nvSpPr>
        <p:spPr>
          <a:xfrm>
            <a:off x="6455664"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Why GSO'd and TCP-hijacked large messages time out here.</a:t>
            </a:r>
          </a:p>
        </p:txBody>
      </p:sp>
      <p:sp>
        <p:nvSpPr>
          <p:cNvPr id="19" name="Rounded Rectangle 18"/>
          <p:cNvSpPr/>
          <p:nvPr/>
        </p:nvSpPr>
        <p:spPr>
          <a:xfrm>
            <a:off x="8860536" y="1828800"/>
            <a:ext cx="2496312" cy="2743200"/>
          </a:xfrm>
          <a:prstGeom prst="roundRect">
            <a:avLst>
              <a:gd name="adj" fmla="val 4000"/>
            </a:avLst>
          </a:prstGeom>
          <a:solidFill>
            <a:srgbClr val="15294A"/>
          </a:solidFill>
          <a:ln w="12700">
            <a:solidFill>
              <a:srgbClr val="152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16568" y="207568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6568" y="2157984"/>
            <a:ext cx="457200" cy="320040"/>
          </a:xfrm>
          <a:prstGeom prst="rect">
            <a:avLst/>
          </a:prstGeom>
          <a:noFill/>
        </p:spPr>
        <p:txBody>
          <a:bodyPr wrap="square" lIns="0" rIns="0" tIns="0" bIns="0" anchor="t">
            <a:spAutoFit/>
          </a:bodyPr>
          <a:lstStyle/>
          <a:p>
            <a:pPr algn="ctr">
              <a:lnSpc>
                <a:spcPct val="115000"/>
              </a:lnSpc>
              <a:spcAft>
                <a:spcPts val="0"/>
              </a:spcAft>
            </a:pPr>
            <a:r>
              <a:rPr sz="1500" b="0" i="0">
                <a:solidFill>
                  <a:srgbClr val="FFFFFF"/>
                </a:solidFill>
                <a:latin typeface="Cambria"/>
              </a:rPr>
              <a:t>4</a:t>
            </a:r>
          </a:p>
        </p:txBody>
      </p:sp>
      <p:sp>
        <p:nvSpPr>
          <p:cNvPr id="22" name="TextBox 21"/>
          <p:cNvSpPr txBox="1"/>
          <p:nvPr/>
        </p:nvSpPr>
        <p:spPr>
          <a:xfrm>
            <a:off x="9729216" y="2103120"/>
            <a:ext cx="1399032" cy="731520"/>
          </a:xfrm>
          <a:prstGeom prst="rect">
            <a:avLst/>
          </a:prstGeom>
          <a:noFill/>
        </p:spPr>
        <p:txBody>
          <a:bodyPr wrap="square" lIns="0" rIns="0" tIns="0" bIns="0" anchor="t">
            <a:spAutoFit/>
          </a:bodyPr>
          <a:lstStyle/>
          <a:p>
            <a:pPr algn="l">
              <a:lnSpc>
                <a:spcPct val="100000"/>
              </a:lnSpc>
              <a:spcAft>
                <a:spcPts val="0"/>
              </a:spcAft>
            </a:pPr>
            <a:r>
              <a:rPr sz="1700" b="0" i="0">
                <a:solidFill>
                  <a:srgbClr val="FFFFFF"/>
                </a:solidFill>
                <a:latin typeface="Calibri"/>
              </a:rPr>
              <a:t>Cluster benchmarks</a:t>
            </a:r>
          </a:p>
        </p:txBody>
      </p:sp>
      <p:sp>
        <p:nvSpPr>
          <p:cNvPr id="23" name="TextBox 22"/>
          <p:cNvSpPr txBox="1"/>
          <p:nvPr/>
        </p:nvSpPr>
        <p:spPr>
          <a:xfrm>
            <a:off x="9134856" y="2926080"/>
            <a:ext cx="1947672" cy="1490472"/>
          </a:xfrm>
          <a:prstGeom prst="rect">
            <a:avLst/>
          </a:prstGeom>
          <a:noFill/>
        </p:spPr>
        <p:txBody>
          <a:bodyPr wrap="square" lIns="0" rIns="0" tIns="0" bIns="0" anchor="t">
            <a:spAutoFit/>
          </a:bodyPr>
          <a:lstStyle/>
          <a:p>
            <a:pPr algn="l">
              <a:lnSpc>
                <a:spcPct val="120000"/>
              </a:lnSpc>
              <a:spcAft>
                <a:spcPts val="0"/>
              </a:spcAft>
            </a:pPr>
            <a:r>
              <a:rPr sz="1500" b="0" i="0">
                <a:solidFill>
                  <a:srgbClr val="C3D3EA"/>
                </a:solidFill>
                <a:latin typeface="Calibri"/>
              </a:rPr>
              <a:t>HomaModule's cp_vs_tcp and cp_load adapted to four nodes.</a:t>
            </a:r>
          </a:p>
        </p:txBody>
      </p:sp>
      <p:sp>
        <p:nvSpPr>
          <p:cNvPr id="24" name="TextBox 23"/>
          <p:cNvSpPr txBox="1"/>
          <p:nvPr/>
        </p:nvSpPr>
        <p:spPr>
          <a:xfrm>
            <a:off x="822960" y="5074920"/>
            <a:ext cx="10515600" cy="731520"/>
          </a:xfrm>
          <a:prstGeom prst="rect">
            <a:avLst/>
          </a:prstGeom>
          <a:noFill/>
        </p:spPr>
        <p:txBody>
          <a:bodyPr wrap="square" lIns="0" rIns="0" tIns="0" bIns="0" anchor="t">
            <a:spAutoFit/>
          </a:bodyPr>
          <a:lstStyle/>
          <a:p>
            <a:pPr algn="l">
              <a:lnSpc>
                <a:spcPct val="115000"/>
              </a:lnSpc>
              <a:spcAft>
                <a:spcPts val="0"/>
              </a:spcAft>
            </a:pPr>
            <a:r>
              <a:rPr sz="1500" b="0" i="0">
                <a:solidFill>
                  <a:srgbClr val="8DA2BE"/>
                </a:solidFill>
                <a:latin typeface="Calibri"/>
              </a:rPr>
              <a:t>Everything here is in ~/homa-lab — README, walkthrough PDF, and ./lab.sh to run it yourself.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